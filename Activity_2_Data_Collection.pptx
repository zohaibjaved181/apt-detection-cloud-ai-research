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0891B2">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3B82F6">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0" y="2286000"/>
            <a:ext cx="3657600" cy="3657600"/>
          </a:xfrm>
          <a:prstGeom prst="ellipse">
            <a:avLst/>
          </a:prstGeom>
          <a:solidFill>
            <a:srgbClr val="7C3AED">
              <a:alpha val="6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548640"/>
            <a:ext cx="7315200" cy="320040"/>
          </a:xfrm>
          <a:prstGeom prst="rect">
            <a:avLst/>
          </a:prstGeom>
          <a:noFill/>
        </p:spPr>
        <p:txBody>
          <a:bodyPr wrap="square">
            <a:spAutoFit/>
          </a:bodyPr>
          <a:lstStyle/>
          <a:p>
            <a:pPr algn="ctr">
              <a:defRPr sz="900" b="1">
                <a:solidFill>
                  <a:srgbClr val="67E8F9"/>
                </a:solidFill>
                <a:latin typeface="Calibri"/>
              </a:defRPr>
            </a:pPr>
            <a:r>
              <a:t>ACTIVITY 2: DATA COLLECTION METHODS</a:t>
            </a:r>
          </a:p>
        </p:txBody>
      </p:sp>
      <p:sp>
        <p:nvSpPr>
          <p:cNvPr id="6" name="TextBox 5"/>
          <p:cNvSpPr txBox="1"/>
          <p:nvPr/>
        </p:nvSpPr>
        <p:spPr>
          <a:xfrm>
            <a:off x="1371600" y="1097280"/>
            <a:ext cx="9418320" cy="914400"/>
          </a:xfrm>
          <a:prstGeom prst="rect">
            <a:avLst/>
          </a:prstGeom>
          <a:noFill/>
        </p:spPr>
        <p:txBody>
          <a:bodyPr wrap="square">
            <a:spAutoFit/>
          </a:bodyPr>
          <a:lstStyle/>
          <a:p>
            <a:pPr algn="ctr">
              <a:defRPr sz="3000" b="1">
                <a:solidFill>
                  <a:srgbClr val="F8FAFC"/>
                </a:solidFill>
                <a:latin typeface="Calibri"/>
              </a:defRPr>
            </a:pPr>
            <a:r>
              <a:t>Selecting Two Data Collection Methods</a:t>
            </a:r>
          </a:p>
        </p:txBody>
      </p:sp>
      <p:sp>
        <p:nvSpPr>
          <p:cNvPr id="7" name="TextBox 6"/>
          <p:cNvSpPr txBox="1"/>
          <p:nvPr/>
        </p:nvSpPr>
        <p:spPr>
          <a:xfrm>
            <a:off x="1645920" y="2103120"/>
            <a:ext cx="8869680" cy="822960"/>
          </a:xfrm>
          <a:prstGeom prst="rect">
            <a:avLst/>
          </a:prstGeom>
          <a:noFill/>
        </p:spPr>
        <p:txBody>
          <a:bodyPr wrap="square">
            <a:spAutoFit/>
          </a:bodyPr>
          <a:lstStyle/>
          <a:p>
            <a:pPr algn="ctr">
              <a:defRPr sz="1200" b="0">
                <a:solidFill>
                  <a:srgbClr val="CBD5E1"/>
                </a:solidFill>
                <a:latin typeface="Calibri"/>
              </a:defRPr>
            </a:pPr>
            <a:r>
              <a:t>With a quantitative methodology in place, we now need to decide how we will actually gather the data our AI models require. The strategy must provide large-scale, structured, and labelled datasets for rigorous training and testing.</a:t>
            </a:r>
          </a:p>
        </p:txBody>
      </p:sp>
      <p:sp>
        <p:nvSpPr>
          <p:cNvPr id="8" name="Rounded Rectangle 7"/>
          <p:cNvSpPr/>
          <p:nvPr/>
        </p:nvSpPr>
        <p:spPr>
          <a:xfrm>
            <a:off x="457200" y="3200400"/>
            <a:ext cx="5486400" cy="3383280"/>
          </a:xfrm>
          <a:prstGeom prst="roundRect">
            <a:avLst/>
          </a:prstGeom>
          <a:solidFill>
            <a:srgbClr val="1A233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383280"/>
            <a:ext cx="4937760" cy="365760"/>
          </a:xfrm>
          <a:prstGeom prst="rect">
            <a:avLst/>
          </a:prstGeom>
          <a:noFill/>
        </p:spPr>
        <p:txBody>
          <a:bodyPr wrap="square">
            <a:spAutoFit/>
          </a:bodyPr>
          <a:lstStyle/>
          <a:p>
            <a:pPr algn="l">
              <a:defRPr sz="1300" b="1">
                <a:solidFill>
                  <a:srgbClr val="93C5FD"/>
                </a:solidFill>
                <a:latin typeface="Calibri"/>
              </a:defRPr>
            </a:pPr>
            <a:r>
              <a:t>Method 1: Secondary Data Analysis</a:t>
            </a:r>
          </a:p>
        </p:txBody>
      </p:sp>
      <p:sp>
        <p:nvSpPr>
          <p:cNvPr id="10" name="TextBox 9"/>
          <p:cNvSpPr txBox="1"/>
          <p:nvPr/>
        </p:nvSpPr>
        <p:spPr>
          <a:xfrm>
            <a:off x="731520" y="3703320"/>
            <a:ext cx="4937760" cy="228600"/>
          </a:xfrm>
          <a:prstGeom prst="rect">
            <a:avLst/>
          </a:prstGeom>
          <a:noFill/>
        </p:spPr>
        <p:txBody>
          <a:bodyPr wrap="square">
            <a:spAutoFit/>
          </a:bodyPr>
          <a:lstStyle/>
          <a:p>
            <a:pPr algn="l">
              <a:defRPr sz="900" b="0">
                <a:solidFill>
                  <a:srgbClr val="94A3B8"/>
                </a:solidFill>
                <a:latin typeface="Calibri"/>
              </a:defRPr>
            </a:pPr>
            <a:r>
              <a:t>Publicly Available Benchmark Datasets</a:t>
            </a:r>
          </a:p>
        </p:txBody>
      </p:sp>
      <p:sp>
        <p:nvSpPr>
          <p:cNvPr id="11" name="TextBox 10"/>
          <p:cNvSpPr txBox="1"/>
          <p:nvPr/>
        </p:nvSpPr>
        <p:spPr>
          <a:xfrm>
            <a:off x="731520" y="4023360"/>
            <a:ext cx="4937760" cy="1371600"/>
          </a:xfrm>
          <a:prstGeom prst="rect">
            <a:avLst/>
          </a:prstGeom>
          <a:noFill/>
        </p:spPr>
        <p:txBody>
          <a:bodyPr wrap="square">
            <a:spAutoFit/>
          </a:bodyPr>
          <a:lstStyle/>
          <a:p>
            <a:pPr algn="l">
              <a:defRPr sz="1000" b="0">
                <a:solidFill>
                  <a:srgbClr val="94A3B8"/>
                </a:solidFill>
                <a:latin typeface="Calibri"/>
              </a:defRPr>
            </a:pPr>
            <a:r>
              <a:t>We draw on established, peer-reviewed network intrusion datasets that the cybersecurity research community has validated over many years. These contain both normal traffic and carefully labelled attack samples, giving us a solid foundation for model training and direct comparison with published work.</a:t>
            </a:r>
          </a:p>
        </p:txBody>
      </p:sp>
      <p:sp>
        <p:nvSpPr>
          <p:cNvPr id="12" name="TextBox 11"/>
          <p:cNvSpPr txBox="1"/>
          <p:nvPr/>
        </p:nvSpPr>
        <p:spPr>
          <a:xfrm>
            <a:off x="914400" y="5394960"/>
            <a:ext cx="4572000" cy="274320"/>
          </a:xfrm>
          <a:prstGeom prst="rect">
            <a:avLst/>
          </a:prstGeom>
          <a:noFill/>
        </p:spPr>
        <p:txBody>
          <a:bodyPr wrap="square">
            <a:spAutoFit/>
          </a:bodyPr>
          <a:lstStyle/>
          <a:p>
            <a:pPr algn="l">
              <a:defRPr sz="900" b="0">
                <a:solidFill>
                  <a:srgbClr val="CBD5E1"/>
                </a:solidFill>
                <a:latin typeface="Calibri"/>
              </a:defRPr>
            </a:pPr>
            <a:r>
              <a:t>  CICIDS 2017/2018</a:t>
            </a:r>
          </a:p>
        </p:txBody>
      </p:sp>
      <p:sp>
        <p:nvSpPr>
          <p:cNvPr id="13" name="TextBox 12"/>
          <p:cNvSpPr txBox="1"/>
          <p:nvPr/>
        </p:nvSpPr>
        <p:spPr>
          <a:xfrm>
            <a:off x="914400" y="5715000"/>
            <a:ext cx="4572000" cy="274320"/>
          </a:xfrm>
          <a:prstGeom prst="rect">
            <a:avLst/>
          </a:prstGeom>
          <a:noFill/>
        </p:spPr>
        <p:txBody>
          <a:bodyPr wrap="square">
            <a:spAutoFit/>
          </a:bodyPr>
          <a:lstStyle/>
          <a:p>
            <a:pPr algn="l">
              <a:defRPr sz="900" b="0">
                <a:solidFill>
                  <a:srgbClr val="CBD5E1"/>
                </a:solidFill>
                <a:latin typeface="Calibri"/>
              </a:defRPr>
            </a:pPr>
            <a:r>
              <a:t>  UNSW-NB15</a:t>
            </a:r>
          </a:p>
        </p:txBody>
      </p:sp>
      <p:sp>
        <p:nvSpPr>
          <p:cNvPr id="14" name="TextBox 13"/>
          <p:cNvSpPr txBox="1"/>
          <p:nvPr/>
        </p:nvSpPr>
        <p:spPr>
          <a:xfrm>
            <a:off x="914400" y="6035040"/>
            <a:ext cx="4572000" cy="274320"/>
          </a:xfrm>
          <a:prstGeom prst="rect">
            <a:avLst/>
          </a:prstGeom>
          <a:noFill/>
        </p:spPr>
        <p:txBody>
          <a:bodyPr wrap="square">
            <a:spAutoFit/>
          </a:bodyPr>
          <a:lstStyle/>
          <a:p>
            <a:pPr algn="l">
              <a:defRPr sz="900" b="0">
                <a:solidFill>
                  <a:srgbClr val="CBD5E1"/>
                </a:solidFill>
                <a:latin typeface="Calibri"/>
              </a:defRPr>
            </a:pPr>
            <a:r>
              <a:t>  Unraveled APT Dataset</a:t>
            </a:r>
          </a:p>
        </p:txBody>
      </p:sp>
      <p:sp>
        <p:nvSpPr>
          <p:cNvPr id="15" name="TextBox 14"/>
          <p:cNvSpPr txBox="1"/>
          <p:nvPr/>
        </p:nvSpPr>
        <p:spPr>
          <a:xfrm>
            <a:off x="914400" y="6355080"/>
            <a:ext cx="4572000" cy="274320"/>
          </a:xfrm>
          <a:prstGeom prst="rect">
            <a:avLst/>
          </a:prstGeom>
          <a:noFill/>
        </p:spPr>
        <p:txBody>
          <a:bodyPr wrap="square">
            <a:spAutoFit/>
          </a:bodyPr>
          <a:lstStyle/>
          <a:p>
            <a:pPr algn="l">
              <a:defRPr sz="900" b="0">
                <a:solidFill>
                  <a:srgbClr val="CBD5E1"/>
                </a:solidFill>
                <a:latin typeface="Calibri"/>
              </a:defRPr>
            </a:pPr>
            <a:r>
              <a:t>  DARPA Transparent Computing</a:t>
            </a:r>
          </a:p>
        </p:txBody>
      </p:sp>
      <p:sp>
        <p:nvSpPr>
          <p:cNvPr id="16" name="Rounded Rectangle 15"/>
          <p:cNvSpPr/>
          <p:nvPr/>
        </p:nvSpPr>
        <p:spPr>
          <a:xfrm>
            <a:off x="6217920" y="3200400"/>
            <a:ext cx="5486400" cy="3383280"/>
          </a:xfrm>
          <a:prstGeom prst="roundRect">
            <a:avLst/>
          </a:prstGeom>
          <a:solidFill>
            <a:srgbClr val="1A2332"/>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383280"/>
            <a:ext cx="4937760" cy="365760"/>
          </a:xfrm>
          <a:prstGeom prst="rect">
            <a:avLst/>
          </a:prstGeom>
          <a:noFill/>
        </p:spPr>
        <p:txBody>
          <a:bodyPr wrap="square">
            <a:spAutoFit/>
          </a:bodyPr>
          <a:lstStyle/>
          <a:p>
            <a:pPr algn="l">
              <a:defRPr sz="1300" b="1">
                <a:solidFill>
                  <a:srgbClr val="67E8F9"/>
                </a:solidFill>
                <a:latin typeface="Calibri"/>
              </a:defRPr>
            </a:pPr>
            <a:r>
              <a:t>Method 2: Controlled Experiment</a:t>
            </a:r>
          </a:p>
        </p:txBody>
      </p:sp>
      <p:sp>
        <p:nvSpPr>
          <p:cNvPr id="18" name="TextBox 17"/>
          <p:cNvSpPr txBox="1"/>
          <p:nvPr/>
        </p:nvSpPr>
        <p:spPr>
          <a:xfrm>
            <a:off x="6492240" y="3703320"/>
            <a:ext cx="4937760" cy="228600"/>
          </a:xfrm>
          <a:prstGeom prst="rect">
            <a:avLst/>
          </a:prstGeom>
          <a:noFill/>
        </p:spPr>
        <p:txBody>
          <a:bodyPr wrap="square">
            <a:spAutoFit/>
          </a:bodyPr>
          <a:lstStyle/>
          <a:p>
            <a:pPr algn="l">
              <a:defRPr sz="900" b="0">
                <a:solidFill>
                  <a:srgbClr val="94A3B8"/>
                </a:solidFill>
                <a:latin typeface="Calibri"/>
              </a:defRPr>
            </a:pPr>
            <a:r>
              <a:t>Simulated Cloud Environment with Live Attacks</a:t>
            </a:r>
          </a:p>
        </p:txBody>
      </p:sp>
      <p:sp>
        <p:nvSpPr>
          <p:cNvPr id="19" name="TextBox 18"/>
          <p:cNvSpPr txBox="1"/>
          <p:nvPr/>
        </p:nvSpPr>
        <p:spPr>
          <a:xfrm>
            <a:off x="6492240" y="4023360"/>
            <a:ext cx="4937760" cy="1371600"/>
          </a:xfrm>
          <a:prstGeom prst="rect">
            <a:avLst/>
          </a:prstGeom>
          <a:noFill/>
        </p:spPr>
        <p:txBody>
          <a:bodyPr wrap="square">
            <a:spAutoFit/>
          </a:bodyPr>
          <a:lstStyle/>
          <a:p>
            <a:pPr algn="l">
              <a:defRPr sz="1000" b="0">
                <a:solidFill>
                  <a:srgbClr val="94A3B8"/>
                </a:solidFill>
                <a:latin typeface="Calibri"/>
              </a:defRPr>
            </a:pPr>
            <a:r>
              <a:t>We build a cloud-based testbed and run realistic attack campaigns against it using established adversary simulation frameworks. This produces fresh, cloud-native data that captures modern threat behaviours not found in older benchmark datasets.</a:t>
            </a:r>
          </a:p>
        </p:txBody>
      </p:sp>
      <p:sp>
        <p:nvSpPr>
          <p:cNvPr id="20" name="TextBox 19"/>
          <p:cNvSpPr txBox="1"/>
          <p:nvPr/>
        </p:nvSpPr>
        <p:spPr>
          <a:xfrm>
            <a:off x="6675120" y="5394960"/>
            <a:ext cx="4572000" cy="274320"/>
          </a:xfrm>
          <a:prstGeom prst="rect">
            <a:avLst/>
          </a:prstGeom>
          <a:noFill/>
        </p:spPr>
        <p:txBody>
          <a:bodyPr wrap="square">
            <a:spAutoFit/>
          </a:bodyPr>
          <a:lstStyle/>
          <a:p>
            <a:pPr algn="l">
              <a:defRPr sz="900" b="0">
                <a:solidFill>
                  <a:srgbClr val="CBD5E1"/>
                </a:solidFill>
                <a:latin typeface="Calibri"/>
              </a:defRPr>
            </a:pPr>
            <a:r>
              <a:t>  AWS/Azure Cloud Testbed</a:t>
            </a:r>
          </a:p>
        </p:txBody>
      </p:sp>
      <p:sp>
        <p:nvSpPr>
          <p:cNvPr id="21" name="TextBox 20"/>
          <p:cNvSpPr txBox="1"/>
          <p:nvPr/>
        </p:nvSpPr>
        <p:spPr>
          <a:xfrm>
            <a:off x="6675120" y="5715000"/>
            <a:ext cx="4572000" cy="274320"/>
          </a:xfrm>
          <a:prstGeom prst="rect">
            <a:avLst/>
          </a:prstGeom>
          <a:noFill/>
        </p:spPr>
        <p:txBody>
          <a:bodyPr wrap="square">
            <a:spAutoFit/>
          </a:bodyPr>
          <a:lstStyle/>
          <a:p>
            <a:pPr algn="l">
              <a:defRPr sz="900" b="0">
                <a:solidFill>
                  <a:srgbClr val="CBD5E1"/>
                </a:solidFill>
                <a:latin typeface="Calibri"/>
              </a:defRPr>
            </a:pPr>
            <a:r>
              <a:t>  MITRE ATT&amp;CK Mapping</a:t>
            </a:r>
          </a:p>
        </p:txBody>
      </p:sp>
      <p:sp>
        <p:nvSpPr>
          <p:cNvPr id="22" name="TextBox 21"/>
          <p:cNvSpPr txBox="1"/>
          <p:nvPr/>
        </p:nvSpPr>
        <p:spPr>
          <a:xfrm>
            <a:off x="6675120" y="6035040"/>
            <a:ext cx="4572000" cy="274320"/>
          </a:xfrm>
          <a:prstGeom prst="rect">
            <a:avLst/>
          </a:prstGeom>
          <a:noFill/>
        </p:spPr>
        <p:txBody>
          <a:bodyPr wrap="square">
            <a:spAutoFit/>
          </a:bodyPr>
          <a:lstStyle/>
          <a:p>
            <a:pPr algn="l">
              <a:defRPr sz="900" b="0">
                <a:solidFill>
                  <a:srgbClr val="CBD5E1"/>
                </a:solidFill>
                <a:latin typeface="Calibri"/>
              </a:defRPr>
            </a:pPr>
            <a:r>
              <a:t>  Atomic Red Team Tools</a:t>
            </a:r>
          </a:p>
        </p:txBody>
      </p:sp>
      <p:sp>
        <p:nvSpPr>
          <p:cNvPr id="23" name="TextBox 22"/>
          <p:cNvSpPr txBox="1"/>
          <p:nvPr/>
        </p:nvSpPr>
        <p:spPr>
          <a:xfrm>
            <a:off x="6675120" y="6355080"/>
            <a:ext cx="4572000" cy="274320"/>
          </a:xfrm>
          <a:prstGeom prst="rect">
            <a:avLst/>
          </a:prstGeom>
          <a:noFill/>
        </p:spPr>
        <p:txBody>
          <a:bodyPr wrap="square">
            <a:spAutoFit/>
          </a:bodyPr>
          <a:lstStyle/>
          <a:p>
            <a:pPr algn="l">
              <a:defRPr sz="900" b="0">
                <a:solidFill>
                  <a:srgbClr val="CBD5E1"/>
                </a:solidFill>
                <a:latin typeface="Calibri"/>
              </a:defRPr>
            </a:pPr>
            <a:r>
              <a:t>  Custom APT Scenarios</a:t>
            </a:r>
          </a:p>
        </p:txBody>
      </p:sp>
      <p:sp>
        <p:nvSpPr>
          <p:cNvPr id="24" name="TextBox 23"/>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01 / 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0891B2">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3B82F6">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3657600" cy="274320"/>
          </a:xfrm>
          <a:prstGeom prst="rect">
            <a:avLst/>
          </a:prstGeom>
          <a:noFill/>
        </p:spPr>
        <p:txBody>
          <a:bodyPr wrap="square">
            <a:spAutoFit/>
          </a:bodyPr>
          <a:lstStyle/>
          <a:p>
            <a:pPr algn="l">
              <a:defRPr sz="900" b="1">
                <a:solidFill>
                  <a:srgbClr val="93C5FD"/>
                </a:solidFill>
                <a:latin typeface="Calibri"/>
              </a:defRPr>
            </a:pPr>
            <a:r>
              <a:t>DETAILED JUSTIFICATION</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8FAFC"/>
                </a:solidFill>
                <a:latin typeface="Calibri"/>
              </a:defRPr>
            </a:pPr>
            <a:r>
              <a:t>Why These Methods Work for Our Study</a:t>
            </a:r>
          </a:p>
        </p:txBody>
      </p:sp>
      <p:sp>
        <p:nvSpPr>
          <p:cNvPr id="6" name="TextBox 5"/>
          <p:cNvSpPr txBox="1"/>
          <p:nvPr/>
        </p:nvSpPr>
        <p:spPr>
          <a:xfrm>
            <a:off x="548640" y="1325880"/>
            <a:ext cx="9144000" cy="365760"/>
          </a:xfrm>
          <a:prstGeom prst="rect">
            <a:avLst/>
          </a:prstGeom>
          <a:noFill/>
        </p:spPr>
        <p:txBody>
          <a:bodyPr wrap="square">
            <a:spAutoFit/>
          </a:bodyPr>
          <a:lstStyle/>
          <a:p>
            <a:pPr algn="l">
              <a:defRPr sz="1100" b="0">
                <a:solidFill>
                  <a:srgbClr val="94A3B8"/>
                </a:solidFill>
                <a:latin typeface="Calibri"/>
              </a:defRPr>
            </a:pPr>
            <a:r>
              <a:t>Each method addresses a different aspect of our data needs, ensuring both breadth and depth.</a:t>
            </a:r>
          </a:p>
        </p:txBody>
      </p:sp>
      <p:sp>
        <p:nvSpPr>
          <p:cNvPr id="7" name="Rounded Rectangle 6"/>
          <p:cNvSpPr/>
          <p:nvPr/>
        </p:nvSpPr>
        <p:spPr>
          <a:xfrm>
            <a:off x="365760" y="1828800"/>
            <a:ext cx="5669280" cy="4754880"/>
          </a:xfrm>
          <a:prstGeom prst="roundRect">
            <a:avLst/>
          </a:prstGeom>
          <a:solidFill>
            <a:srgbClr val="1A233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11680"/>
            <a:ext cx="5029200" cy="365760"/>
          </a:xfrm>
          <a:prstGeom prst="rect">
            <a:avLst/>
          </a:prstGeom>
          <a:noFill/>
        </p:spPr>
        <p:txBody>
          <a:bodyPr wrap="square">
            <a:spAutoFit/>
          </a:bodyPr>
          <a:lstStyle/>
          <a:p>
            <a:pPr algn="l">
              <a:defRPr sz="1300" b="1">
                <a:solidFill>
                  <a:srgbClr val="93C5FD"/>
                </a:solidFill>
                <a:latin typeface="Calibri"/>
              </a:defRPr>
            </a:pPr>
            <a:r>
              <a:t>Secondary Data - The Case For It</a:t>
            </a:r>
          </a:p>
        </p:txBody>
      </p:sp>
      <p:sp>
        <p:nvSpPr>
          <p:cNvPr id="9" name="TextBox 8"/>
          <p:cNvSpPr txBox="1"/>
          <p:nvPr/>
        </p:nvSpPr>
        <p:spPr>
          <a:xfrm>
            <a:off x="822960" y="2560320"/>
            <a:ext cx="4846320" cy="274320"/>
          </a:xfrm>
          <a:prstGeom prst="rect">
            <a:avLst/>
          </a:prstGeom>
          <a:noFill/>
        </p:spPr>
        <p:txBody>
          <a:bodyPr wrap="square">
            <a:spAutoFit/>
          </a:bodyPr>
          <a:lstStyle/>
          <a:p>
            <a:pPr algn="l">
              <a:defRPr sz="1000" b="1">
                <a:solidFill>
                  <a:srgbClr val="F8FAFC"/>
                </a:solidFill>
                <a:latin typeface="Calibri"/>
              </a:defRPr>
            </a:pPr>
            <a:r>
              <a:t>  Community-validated</a:t>
            </a:r>
          </a:p>
        </p:txBody>
      </p:sp>
      <p:sp>
        <p:nvSpPr>
          <p:cNvPr id="10" name="TextBox 9"/>
          <p:cNvSpPr txBox="1"/>
          <p:nvPr/>
        </p:nvSpPr>
        <p:spPr>
          <a:xfrm>
            <a:off x="822960" y="2816352"/>
            <a:ext cx="4846320" cy="320040"/>
          </a:xfrm>
          <a:prstGeom prst="rect">
            <a:avLst/>
          </a:prstGeom>
          <a:noFill/>
        </p:spPr>
        <p:txBody>
          <a:bodyPr wrap="square">
            <a:spAutoFit/>
          </a:bodyPr>
          <a:lstStyle/>
          <a:p>
            <a:pPr algn="l">
              <a:defRPr sz="900" b="0">
                <a:solidFill>
                  <a:srgbClr val="94A3B8"/>
                </a:solidFill>
                <a:latin typeface="Calibri"/>
              </a:defRPr>
            </a:pPr>
            <a:r>
              <a:t>    Used in hundreds of published studies, enabling direct comparison with existing work</a:t>
            </a:r>
          </a:p>
        </p:txBody>
      </p:sp>
      <p:sp>
        <p:nvSpPr>
          <p:cNvPr id="11" name="TextBox 10"/>
          <p:cNvSpPr txBox="1"/>
          <p:nvPr/>
        </p:nvSpPr>
        <p:spPr>
          <a:xfrm>
            <a:off x="822960" y="3200400"/>
            <a:ext cx="4846320" cy="274320"/>
          </a:xfrm>
          <a:prstGeom prst="rect">
            <a:avLst/>
          </a:prstGeom>
          <a:noFill/>
        </p:spPr>
        <p:txBody>
          <a:bodyPr wrap="square">
            <a:spAutoFit/>
          </a:bodyPr>
          <a:lstStyle/>
          <a:p>
            <a:pPr algn="l">
              <a:defRPr sz="1000" b="1">
                <a:solidFill>
                  <a:srgbClr val="F8FAFC"/>
                </a:solidFill>
                <a:latin typeface="Calibri"/>
              </a:defRPr>
            </a:pPr>
            <a:r>
              <a:t>  Pre-labelled attacks</a:t>
            </a:r>
          </a:p>
        </p:txBody>
      </p:sp>
      <p:sp>
        <p:nvSpPr>
          <p:cNvPr id="12" name="TextBox 11"/>
          <p:cNvSpPr txBox="1"/>
          <p:nvPr/>
        </p:nvSpPr>
        <p:spPr>
          <a:xfrm>
            <a:off x="822960" y="3456432"/>
            <a:ext cx="4846320" cy="320040"/>
          </a:xfrm>
          <a:prstGeom prst="rect">
            <a:avLst/>
          </a:prstGeom>
          <a:noFill/>
        </p:spPr>
        <p:txBody>
          <a:bodyPr wrap="square">
            <a:spAutoFit/>
          </a:bodyPr>
          <a:lstStyle/>
          <a:p>
            <a:pPr algn="l">
              <a:defRPr sz="900" b="0">
                <a:solidFill>
                  <a:srgbClr val="94A3B8"/>
                </a:solidFill>
                <a:latin typeface="Calibri"/>
              </a:defRPr>
            </a:pPr>
            <a:r>
              <a:t>    Each record already tagged, eliminating manual annotation and reducing human bias</a:t>
            </a:r>
          </a:p>
        </p:txBody>
      </p:sp>
      <p:sp>
        <p:nvSpPr>
          <p:cNvPr id="13" name="TextBox 12"/>
          <p:cNvSpPr txBox="1"/>
          <p:nvPr/>
        </p:nvSpPr>
        <p:spPr>
          <a:xfrm>
            <a:off x="822960" y="3840479"/>
            <a:ext cx="4846320" cy="274320"/>
          </a:xfrm>
          <a:prstGeom prst="rect">
            <a:avLst/>
          </a:prstGeom>
          <a:noFill/>
        </p:spPr>
        <p:txBody>
          <a:bodyPr wrap="square">
            <a:spAutoFit/>
          </a:bodyPr>
          <a:lstStyle/>
          <a:p>
            <a:pPr algn="l">
              <a:defRPr sz="1000" b="1">
                <a:solidFill>
                  <a:srgbClr val="F8FAFC"/>
                </a:solidFill>
                <a:latin typeface="Calibri"/>
              </a:defRPr>
            </a:pPr>
            <a:r>
              <a:t>  Massive scale</a:t>
            </a:r>
          </a:p>
        </p:txBody>
      </p:sp>
      <p:sp>
        <p:nvSpPr>
          <p:cNvPr id="14" name="TextBox 13"/>
          <p:cNvSpPr txBox="1"/>
          <p:nvPr/>
        </p:nvSpPr>
        <p:spPr>
          <a:xfrm>
            <a:off x="822960" y="4096511"/>
            <a:ext cx="4846320" cy="320040"/>
          </a:xfrm>
          <a:prstGeom prst="rect">
            <a:avLst/>
          </a:prstGeom>
          <a:noFill/>
        </p:spPr>
        <p:txBody>
          <a:bodyPr wrap="square">
            <a:spAutoFit/>
          </a:bodyPr>
          <a:lstStyle/>
          <a:p>
            <a:pPr algn="l">
              <a:defRPr sz="900" b="0">
                <a:solidFill>
                  <a:srgbClr val="94A3B8"/>
                </a:solidFill>
                <a:latin typeface="Calibri"/>
              </a:defRPr>
            </a:pPr>
            <a:r>
              <a:t>    Millions of network flow records providing enough volume for data-hungry deep learning</a:t>
            </a:r>
          </a:p>
        </p:txBody>
      </p:sp>
      <p:sp>
        <p:nvSpPr>
          <p:cNvPr id="15" name="TextBox 14"/>
          <p:cNvSpPr txBox="1"/>
          <p:nvPr/>
        </p:nvSpPr>
        <p:spPr>
          <a:xfrm>
            <a:off x="822960" y="4480559"/>
            <a:ext cx="4846320" cy="274320"/>
          </a:xfrm>
          <a:prstGeom prst="rect">
            <a:avLst/>
          </a:prstGeom>
          <a:noFill/>
        </p:spPr>
        <p:txBody>
          <a:bodyPr wrap="square">
            <a:spAutoFit/>
          </a:bodyPr>
          <a:lstStyle/>
          <a:p>
            <a:pPr algn="l">
              <a:defRPr sz="1000" b="1">
                <a:solidFill>
                  <a:srgbClr val="F8FAFC"/>
                </a:solidFill>
                <a:latin typeface="Calibri"/>
              </a:defRPr>
            </a:pPr>
            <a:r>
              <a:t>  Reproducibility</a:t>
            </a:r>
          </a:p>
        </p:txBody>
      </p:sp>
      <p:sp>
        <p:nvSpPr>
          <p:cNvPr id="16" name="TextBox 15"/>
          <p:cNvSpPr txBox="1"/>
          <p:nvPr/>
        </p:nvSpPr>
        <p:spPr>
          <a:xfrm>
            <a:off x="822960" y="4736591"/>
            <a:ext cx="4846320" cy="320040"/>
          </a:xfrm>
          <a:prstGeom prst="rect">
            <a:avLst/>
          </a:prstGeom>
          <a:noFill/>
        </p:spPr>
        <p:txBody>
          <a:bodyPr wrap="square">
            <a:spAutoFit/>
          </a:bodyPr>
          <a:lstStyle/>
          <a:p>
            <a:pPr algn="l">
              <a:defRPr sz="900" b="0">
                <a:solidFill>
                  <a:srgbClr val="94A3B8"/>
                </a:solidFill>
                <a:latin typeface="Calibri"/>
              </a:defRPr>
            </a:pPr>
            <a:r>
              <a:t>    Anyone can download the same data and replicate our experiments exactly</a:t>
            </a:r>
          </a:p>
        </p:txBody>
      </p:sp>
      <p:sp>
        <p:nvSpPr>
          <p:cNvPr id="17" name="Rounded Rectangle 16"/>
          <p:cNvSpPr/>
          <p:nvPr/>
        </p:nvSpPr>
        <p:spPr>
          <a:xfrm>
            <a:off x="457200" y="5212080"/>
            <a:ext cx="5394960" cy="914400"/>
          </a:xfrm>
          <a:prstGeom prst="roundRect">
            <a:avLst/>
          </a:prstGeom>
          <a:solidFill>
            <a:srgbClr val="0A182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303520"/>
            <a:ext cx="5029200" cy="731520"/>
          </a:xfrm>
          <a:prstGeom prst="rect">
            <a:avLst/>
          </a:prstGeom>
          <a:noFill/>
        </p:spPr>
        <p:txBody>
          <a:bodyPr wrap="square">
            <a:spAutoFit/>
          </a:bodyPr>
          <a:lstStyle/>
          <a:p>
            <a:pPr algn="l">
              <a:defRPr sz="900" b="0">
                <a:solidFill>
                  <a:srgbClr val="CBD5E1"/>
                </a:solidFill>
                <a:latin typeface="Calibri"/>
              </a:defRPr>
            </a:pPr>
            <a:r>
              <a:t>How it helps: These datasets serve as our training foundation and allow benchmarking against state-of-the-art methods using identical evaluation conditions.</a:t>
            </a:r>
          </a:p>
        </p:txBody>
      </p:sp>
      <p:sp>
        <p:nvSpPr>
          <p:cNvPr id="19" name="Rounded Rectangle 18"/>
          <p:cNvSpPr/>
          <p:nvPr/>
        </p:nvSpPr>
        <p:spPr>
          <a:xfrm>
            <a:off x="6309360" y="1828800"/>
            <a:ext cx="5303520" cy="4754880"/>
          </a:xfrm>
          <a:prstGeom prst="roundRect">
            <a:avLst/>
          </a:prstGeom>
          <a:solidFill>
            <a:srgbClr val="1A2332"/>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011680"/>
            <a:ext cx="4754880" cy="365760"/>
          </a:xfrm>
          <a:prstGeom prst="rect">
            <a:avLst/>
          </a:prstGeom>
          <a:noFill/>
        </p:spPr>
        <p:txBody>
          <a:bodyPr wrap="square">
            <a:spAutoFit/>
          </a:bodyPr>
          <a:lstStyle/>
          <a:p>
            <a:pPr algn="l">
              <a:defRPr sz="1300" b="1">
                <a:solidFill>
                  <a:srgbClr val="67E8F9"/>
                </a:solidFill>
                <a:latin typeface="Calibri"/>
              </a:defRPr>
            </a:pPr>
            <a:r>
              <a:t>Controlled Experiment - The Case For It</a:t>
            </a:r>
          </a:p>
        </p:txBody>
      </p:sp>
      <p:sp>
        <p:nvSpPr>
          <p:cNvPr id="21" name="TextBox 20"/>
          <p:cNvSpPr txBox="1"/>
          <p:nvPr/>
        </p:nvSpPr>
        <p:spPr>
          <a:xfrm>
            <a:off x="6766560" y="2560320"/>
            <a:ext cx="4572000" cy="274320"/>
          </a:xfrm>
          <a:prstGeom prst="rect">
            <a:avLst/>
          </a:prstGeom>
          <a:noFill/>
        </p:spPr>
        <p:txBody>
          <a:bodyPr wrap="square">
            <a:spAutoFit/>
          </a:bodyPr>
          <a:lstStyle/>
          <a:p>
            <a:pPr algn="l">
              <a:defRPr sz="1000" b="1">
                <a:solidFill>
                  <a:srgbClr val="F8FAFC"/>
                </a:solidFill>
                <a:latin typeface="Calibri"/>
              </a:defRPr>
            </a:pPr>
            <a:r>
              <a:t>  Cloud-native patterns</a:t>
            </a:r>
          </a:p>
        </p:txBody>
      </p:sp>
      <p:sp>
        <p:nvSpPr>
          <p:cNvPr id="22" name="TextBox 21"/>
          <p:cNvSpPr txBox="1"/>
          <p:nvPr/>
        </p:nvSpPr>
        <p:spPr>
          <a:xfrm>
            <a:off x="6766560" y="2816352"/>
            <a:ext cx="4572000" cy="320040"/>
          </a:xfrm>
          <a:prstGeom prst="rect">
            <a:avLst/>
          </a:prstGeom>
          <a:noFill/>
        </p:spPr>
        <p:txBody>
          <a:bodyPr wrap="square">
            <a:spAutoFit/>
          </a:bodyPr>
          <a:lstStyle/>
          <a:p>
            <a:pPr algn="l">
              <a:defRPr sz="900" b="0">
                <a:solidFill>
                  <a:srgbClr val="94A3B8"/>
                </a:solidFill>
                <a:latin typeface="Calibri"/>
              </a:defRPr>
            </a:pPr>
            <a:r>
              <a:t>    Captures API abuse, container escape, and lateral movement unique to cloud</a:t>
            </a:r>
          </a:p>
        </p:txBody>
      </p:sp>
      <p:sp>
        <p:nvSpPr>
          <p:cNvPr id="23" name="TextBox 22"/>
          <p:cNvSpPr txBox="1"/>
          <p:nvPr/>
        </p:nvSpPr>
        <p:spPr>
          <a:xfrm>
            <a:off x="6766560" y="3200400"/>
            <a:ext cx="4572000" cy="274320"/>
          </a:xfrm>
          <a:prstGeom prst="rect">
            <a:avLst/>
          </a:prstGeom>
          <a:noFill/>
        </p:spPr>
        <p:txBody>
          <a:bodyPr wrap="square">
            <a:spAutoFit/>
          </a:bodyPr>
          <a:lstStyle/>
          <a:p>
            <a:pPr algn="l">
              <a:defRPr sz="1000" b="1">
                <a:solidFill>
                  <a:srgbClr val="F8FAFC"/>
                </a:solidFill>
                <a:latin typeface="Calibri"/>
              </a:defRPr>
            </a:pPr>
            <a:r>
              <a:t>  Current threats</a:t>
            </a:r>
          </a:p>
        </p:txBody>
      </p:sp>
      <p:sp>
        <p:nvSpPr>
          <p:cNvPr id="24" name="TextBox 23"/>
          <p:cNvSpPr txBox="1"/>
          <p:nvPr/>
        </p:nvSpPr>
        <p:spPr>
          <a:xfrm>
            <a:off x="6766560" y="3456432"/>
            <a:ext cx="4572000" cy="320040"/>
          </a:xfrm>
          <a:prstGeom prst="rect">
            <a:avLst/>
          </a:prstGeom>
          <a:noFill/>
        </p:spPr>
        <p:txBody>
          <a:bodyPr wrap="square">
            <a:spAutoFit/>
          </a:bodyPr>
          <a:lstStyle/>
          <a:p>
            <a:pPr algn="l">
              <a:defRPr sz="900" b="0">
                <a:solidFill>
                  <a:srgbClr val="94A3B8"/>
                </a:solidFill>
                <a:latin typeface="Calibri"/>
              </a:defRPr>
            </a:pPr>
            <a:r>
              <a:t>    Simulates 2024-2025 APT tactics that older datasets simply cannot reflect</a:t>
            </a:r>
          </a:p>
        </p:txBody>
      </p:sp>
      <p:sp>
        <p:nvSpPr>
          <p:cNvPr id="25" name="TextBox 24"/>
          <p:cNvSpPr txBox="1"/>
          <p:nvPr/>
        </p:nvSpPr>
        <p:spPr>
          <a:xfrm>
            <a:off x="6766560" y="3840479"/>
            <a:ext cx="4572000" cy="274320"/>
          </a:xfrm>
          <a:prstGeom prst="rect">
            <a:avLst/>
          </a:prstGeom>
          <a:noFill/>
        </p:spPr>
        <p:txBody>
          <a:bodyPr wrap="square">
            <a:spAutoFit/>
          </a:bodyPr>
          <a:lstStyle/>
          <a:p>
            <a:pPr algn="l">
              <a:defRPr sz="1000" b="1">
                <a:solidFill>
                  <a:srgbClr val="F8FAFC"/>
                </a:solidFill>
                <a:latin typeface="Calibri"/>
              </a:defRPr>
            </a:pPr>
            <a:r>
              <a:t>  Full variable control</a:t>
            </a:r>
          </a:p>
        </p:txBody>
      </p:sp>
      <p:sp>
        <p:nvSpPr>
          <p:cNvPr id="26" name="TextBox 25"/>
          <p:cNvSpPr txBox="1"/>
          <p:nvPr/>
        </p:nvSpPr>
        <p:spPr>
          <a:xfrm>
            <a:off x="6766560" y="4096511"/>
            <a:ext cx="4572000" cy="320040"/>
          </a:xfrm>
          <a:prstGeom prst="rect">
            <a:avLst/>
          </a:prstGeom>
          <a:noFill/>
        </p:spPr>
        <p:txBody>
          <a:bodyPr wrap="square">
            <a:spAutoFit/>
          </a:bodyPr>
          <a:lstStyle/>
          <a:p>
            <a:pPr algn="l">
              <a:defRPr sz="900" b="0">
                <a:solidFill>
                  <a:srgbClr val="94A3B8"/>
                </a:solidFill>
                <a:latin typeface="Calibri"/>
              </a:defRPr>
            </a:pPr>
            <a:r>
              <a:t>    We decide exactly which attacks to run, when, and at what intensity</a:t>
            </a:r>
          </a:p>
        </p:txBody>
      </p:sp>
      <p:sp>
        <p:nvSpPr>
          <p:cNvPr id="27" name="TextBox 26"/>
          <p:cNvSpPr txBox="1"/>
          <p:nvPr/>
        </p:nvSpPr>
        <p:spPr>
          <a:xfrm>
            <a:off x="6766560" y="4480559"/>
            <a:ext cx="4572000" cy="274320"/>
          </a:xfrm>
          <a:prstGeom prst="rect">
            <a:avLst/>
          </a:prstGeom>
          <a:noFill/>
        </p:spPr>
        <p:txBody>
          <a:bodyPr wrap="square">
            <a:spAutoFit/>
          </a:bodyPr>
          <a:lstStyle/>
          <a:p>
            <a:pPr algn="l">
              <a:defRPr sz="1000" b="1">
                <a:solidFill>
                  <a:srgbClr val="F8FAFC"/>
                </a:solidFill>
                <a:latin typeface="Calibri"/>
              </a:defRPr>
            </a:pPr>
            <a:r>
              <a:t>  Addresses research gap</a:t>
            </a:r>
          </a:p>
        </p:txBody>
      </p:sp>
      <p:sp>
        <p:nvSpPr>
          <p:cNvPr id="28" name="TextBox 27"/>
          <p:cNvSpPr txBox="1"/>
          <p:nvPr/>
        </p:nvSpPr>
        <p:spPr>
          <a:xfrm>
            <a:off x="6766560" y="4736591"/>
            <a:ext cx="4572000" cy="320040"/>
          </a:xfrm>
          <a:prstGeom prst="rect">
            <a:avLst/>
          </a:prstGeom>
          <a:noFill/>
        </p:spPr>
        <p:txBody>
          <a:bodyPr wrap="square">
            <a:spAutoFit/>
          </a:bodyPr>
          <a:lstStyle/>
          <a:p>
            <a:pPr algn="l">
              <a:defRPr sz="900" b="0">
                <a:solidFill>
                  <a:srgbClr val="94A3B8"/>
                </a:solidFill>
                <a:latin typeface="Calibri"/>
              </a:defRPr>
            </a:pPr>
            <a:r>
              <a:t>    Multiple review papers note lack of cloud-specific APT datasets</a:t>
            </a:r>
          </a:p>
        </p:txBody>
      </p:sp>
      <p:sp>
        <p:nvSpPr>
          <p:cNvPr id="29" name="Rounded Rectangle 28"/>
          <p:cNvSpPr/>
          <p:nvPr/>
        </p:nvSpPr>
        <p:spPr>
          <a:xfrm>
            <a:off x="6400800" y="5212080"/>
            <a:ext cx="5029200" cy="914400"/>
          </a:xfrm>
          <a:prstGeom prst="roundRect">
            <a:avLst/>
          </a:prstGeom>
          <a:solidFill>
            <a:srgbClr val="0A1C22"/>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5303520"/>
            <a:ext cx="4663440" cy="731520"/>
          </a:xfrm>
          <a:prstGeom prst="rect">
            <a:avLst/>
          </a:prstGeom>
          <a:noFill/>
        </p:spPr>
        <p:txBody>
          <a:bodyPr wrap="square">
            <a:spAutoFit/>
          </a:bodyPr>
          <a:lstStyle/>
          <a:p>
            <a:pPr algn="l">
              <a:defRPr sz="900" b="0">
                <a:solidFill>
                  <a:srgbClr val="CBD5E1"/>
                </a:solidFill>
                <a:latin typeface="Calibri"/>
              </a:defRPr>
            </a:pPr>
            <a:r>
              <a:t>How it helps: Validates our model on fresh, realistic cloud attack scenarios representing the threats organisations actually face today.</a:t>
            </a:r>
          </a:p>
        </p:txBody>
      </p:sp>
      <p:sp>
        <p:nvSpPr>
          <p:cNvPr id="31" name="TextBox 30"/>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02 / 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0891B2">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3B82F6">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3657600" cy="274320"/>
          </a:xfrm>
          <a:prstGeom prst="rect">
            <a:avLst/>
          </a:prstGeom>
          <a:noFill/>
        </p:spPr>
        <p:txBody>
          <a:bodyPr wrap="square">
            <a:spAutoFit/>
          </a:bodyPr>
          <a:lstStyle/>
          <a:p>
            <a:pPr algn="l">
              <a:defRPr sz="900" b="1">
                <a:solidFill>
                  <a:srgbClr val="6EE7B7"/>
                </a:solidFill>
                <a:latin typeface="Calibri"/>
              </a:defRPr>
            </a:pPr>
            <a:r>
              <a:t>BRINGING IT TOGETHER</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8FAFC"/>
                </a:solidFill>
                <a:latin typeface="Calibri"/>
              </a:defRPr>
            </a:pPr>
            <a:r>
              <a:t>How Our Data Collection Supports the Research</a:t>
            </a:r>
          </a:p>
        </p:txBody>
      </p:sp>
      <p:sp>
        <p:nvSpPr>
          <p:cNvPr id="6" name="TextBox 5"/>
          <p:cNvSpPr txBox="1"/>
          <p:nvPr/>
        </p:nvSpPr>
        <p:spPr>
          <a:xfrm>
            <a:off x="548640" y="1325880"/>
            <a:ext cx="9144000" cy="365760"/>
          </a:xfrm>
          <a:prstGeom prst="rect">
            <a:avLst/>
          </a:prstGeom>
          <a:noFill/>
        </p:spPr>
        <p:txBody>
          <a:bodyPr wrap="square">
            <a:spAutoFit/>
          </a:bodyPr>
          <a:lstStyle/>
          <a:p>
            <a:pPr algn="l">
              <a:defRPr sz="1100" b="0">
                <a:solidFill>
                  <a:srgbClr val="94A3B8"/>
                </a:solidFill>
                <a:latin typeface="Calibri"/>
              </a:defRPr>
            </a:pPr>
            <a:r>
              <a:t>Both methods work in tandem to ensure robust training and realistic validation.</a:t>
            </a:r>
          </a:p>
        </p:txBody>
      </p:sp>
      <p:sp>
        <p:nvSpPr>
          <p:cNvPr id="7" name="Rounded Rectangle 6"/>
          <p:cNvSpPr/>
          <p:nvPr/>
        </p:nvSpPr>
        <p:spPr>
          <a:xfrm>
            <a:off x="365760" y="1828800"/>
            <a:ext cx="5943600" cy="3840480"/>
          </a:xfrm>
          <a:prstGeom prst="roundRect">
            <a:avLst/>
          </a:prstGeom>
          <a:solidFill>
            <a:srgbClr val="1A2332"/>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11680"/>
            <a:ext cx="5486400" cy="365760"/>
          </a:xfrm>
          <a:prstGeom prst="rect">
            <a:avLst/>
          </a:prstGeom>
          <a:noFill/>
        </p:spPr>
        <p:txBody>
          <a:bodyPr wrap="square">
            <a:spAutoFit/>
          </a:bodyPr>
          <a:lstStyle/>
          <a:p>
            <a:pPr algn="ctr">
              <a:defRPr sz="1300" b="1">
                <a:solidFill>
                  <a:srgbClr val="67E8F9"/>
                </a:solidFill>
                <a:latin typeface="Calibri"/>
              </a:defRPr>
            </a:pPr>
            <a:r>
              <a:t>Data Collection Overview</a:t>
            </a:r>
          </a:p>
        </p:txBody>
      </p:sp>
      <p:sp>
        <p:nvSpPr>
          <p:cNvPr id="9" name="Rounded Rectangle 8"/>
          <p:cNvSpPr/>
          <p:nvPr/>
        </p:nvSpPr>
        <p:spPr>
          <a:xfrm>
            <a:off x="457200" y="2468880"/>
            <a:ext cx="5669280" cy="365760"/>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1371600" cy="320040"/>
          </a:xfrm>
          <a:prstGeom prst="rect">
            <a:avLst/>
          </a:prstGeom>
          <a:noFill/>
        </p:spPr>
        <p:txBody>
          <a:bodyPr wrap="square">
            <a:spAutoFit/>
          </a:bodyPr>
          <a:lstStyle/>
          <a:p>
            <a:pPr algn="l">
              <a:defRPr sz="800" b="1">
                <a:solidFill>
                  <a:srgbClr val="67E8F9"/>
                </a:solidFill>
                <a:latin typeface="Calibri"/>
              </a:defRPr>
            </a:pPr>
            <a:r>
              <a:t>Aspect</a:t>
            </a:r>
          </a:p>
        </p:txBody>
      </p:sp>
      <p:sp>
        <p:nvSpPr>
          <p:cNvPr id="11" name="TextBox 10"/>
          <p:cNvSpPr txBox="1"/>
          <p:nvPr/>
        </p:nvSpPr>
        <p:spPr>
          <a:xfrm>
            <a:off x="2103120" y="2496312"/>
            <a:ext cx="2011680" cy="320040"/>
          </a:xfrm>
          <a:prstGeom prst="rect">
            <a:avLst/>
          </a:prstGeom>
          <a:noFill/>
        </p:spPr>
        <p:txBody>
          <a:bodyPr wrap="square">
            <a:spAutoFit/>
          </a:bodyPr>
          <a:lstStyle/>
          <a:p>
            <a:pPr algn="l">
              <a:defRPr sz="800" b="1">
                <a:solidFill>
                  <a:srgbClr val="93C5FD"/>
                </a:solidFill>
                <a:latin typeface="Calibri"/>
              </a:defRPr>
            </a:pPr>
            <a:r>
              <a:t>Method 1: Secondary</a:t>
            </a:r>
          </a:p>
        </p:txBody>
      </p:sp>
      <p:sp>
        <p:nvSpPr>
          <p:cNvPr id="12" name="TextBox 11"/>
          <p:cNvSpPr txBox="1"/>
          <p:nvPr/>
        </p:nvSpPr>
        <p:spPr>
          <a:xfrm>
            <a:off x="4206240" y="2496312"/>
            <a:ext cx="1828800" cy="320040"/>
          </a:xfrm>
          <a:prstGeom prst="rect">
            <a:avLst/>
          </a:prstGeom>
          <a:noFill/>
        </p:spPr>
        <p:txBody>
          <a:bodyPr wrap="square">
            <a:spAutoFit/>
          </a:bodyPr>
          <a:lstStyle/>
          <a:p>
            <a:pPr algn="l">
              <a:defRPr sz="800" b="1">
                <a:solidFill>
                  <a:srgbClr val="67E8F9"/>
                </a:solidFill>
                <a:latin typeface="Calibri"/>
              </a:defRPr>
            </a:pPr>
            <a:r>
              <a:t>Method 2: Experiment</a:t>
            </a:r>
          </a:p>
        </p:txBody>
      </p:sp>
      <p:sp>
        <p:nvSpPr>
          <p:cNvPr id="13" name="Rounded Rectangle 12"/>
          <p:cNvSpPr/>
          <p:nvPr/>
        </p:nvSpPr>
        <p:spPr>
          <a:xfrm>
            <a:off x="457200" y="2880360"/>
            <a:ext cx="5669280" cy="393192"/>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16936"/>
            <a:ext cx="1371600" cy="320040"/>
          </a:xfrm>
          <a:prstGeom prst="rect">
            <a:avLst/>
          </a:prstGeom>
          <a:noFill/>
        </p:spPr>
        <p:txBody>
          <a:bodyPr wrap="square">
            <a:spAutoFit/>
          </a:bodyPr>
          <a:lstStyle/>
          <a:p>
            <a:pPr algn="l">
              <a:defRPr sz="900" b="1">
                <a:solidFill>
                  <a:srgbClr val="F8FAFC"/>
                </a:solidFill>
                <a:latin typeface="Calibri"/>
              </a:defRPr>
            </a:pPr>
            <a:r>
              <a:t>Data Source</a:t>
            </a:r>
          </a:p>
        </p:txBody>
      </p:sp>
      <p:sp>
        <p:nvSpPr>
          <p:cNvPr id="15" name="TextBox 14"/>
          <p:cNvSpPr txBox="1"/>
          <p:nvPr/>
        </p:nvSpPr>
        <p:spPr>
          <a:xfrm>
            <a:off x="2103120" y="2916936"/>
            <a:ext cx="2011680" cy="320040"/>
          </a:xfrm>
          <a:prstGeom prst="rect">
            <a:avLst/>
          </a:prstGeom>
          <a:noFill/>
        </p:spPr>
        <p:txBody>
          <a:bodyPr wrap="square">
            <a:spAutoFit/>
          </a:bodyPr>
          <a:lstStyle/>
          <a:p>
            <a:pPr algn="l">
              <a:defRPr sz="900" b="0">
                <a:solidFill>
                  <a:srgbClr val="94A3B8"/>
                </a:solidFill>
                <a:latin typeface="Calibri"/>
              </a:defRPr>
            </a:pPr>
            <a:r>
              <a:t>Public benchmarks</a:t>
            </a:r>
          </a:p>
        </p:txBody>
      </p:sp>
      <p:sp>
        <p:nvSpPr>
          <p:cNvPr id="16" name="TextBox 15"/>
          <p:cNvSpPr txBox="1"/>
          <p:nvPr/>
        </p:nvSpPr>
        <p:spPr>
          <a:xfrm>
            <a:off x="4206240" y="2916936"/>
            <a:ext cx="1828800" cy="320040"/>
          </a:xfrm>
          <a:prstGeom prst="rect">
            <a:avLst/>
          </a:prstGeom>
          <a:noFill/>
        </p:spPr>
        <p:txBody>
          <a:bodyPr wrap="square">
            <a:spAutoFit/>
          </a:bodyPr>
          <a:lstStyle/>
          <a:p>
            <a:pPr algn="l">
              <a:defRPr sz="900" b="0">
                <a:solidFill>
                  <a:srgbClr val="94A3B8"/>
                </a:solidFill>
                <a:latin typeface="Calibri"/>
              </a:defRPr>
            </a:pPr>
            <a:r>
              <a:t>Our cloud testbed</a:t>
            </a:r>
          </a:p>
        </p:txBody>
      </p:sp>
      <p:sp>
        <p:nvSpPr>
          <p:cNvPr id="17" name="Rounded Rectangle 16"/>
          <p:cNvSpPr/>
          <p:nvPr/>
        </p:nvSpPr>
        <p:spPr>
          <a:xfrm>
            <a:off x="457200" y="3319272"/>
            <a:ext cx="5669280" cy="393192"/>
          </a:xfrm>
          <a:prstGeom prst="roundRect">
            <a:avLst/>
          </a:prstGeom>
          <a:solidFill>
            <a:srgbClr val="15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355848"/>
            <a:ext cx="1371600" cy="320040"/>
          </a:xfrm>
          <a:prstGeom prst="rect">
            <a:avLst/>
          </a:prstGeom>
          <a:noFill/>
        </p:spPr>
        <p:txBody>
          <a:bodyPr wrap="square">
            <a:spAutoFit/>
          </a:bodyPr>
          <a:lstStyle/>
          <a:p>
            <a:pPr algn="l">
              <a:defRPr sz="900" b="1">
                <a:solidFill>
                  <a:srgbClr val="F8FAFC"/>
                </a:solidFill>
                <a:latin typeface="Calibri"/>
              </a:defRPr>
            </a:pPr>
            <a:r>
              <a:t>Scale</a:t>
            </a:r>
          </a:p>
        </p:txBody>
      </p:sp>
      <p:sp>
        <p:nvSpPr>
          <p:cNvPr id="19" name="TextBox 18"/>
          <p:cNvSpPr txBox="1"/>
          <p:nvPr/>
        </p:nvSpPr>
        <p:spPr>
          <a:xfrm>
            <a:off x="2103120" y="3355848"/>
            <a:ext cx="2011680" cy="320040"/>
          </a:xfrm>
          <a:prstGeom prst="rect">
            <a:avLst/>
          </a:prstGeom>
          <a:noFill/>
        </p:spPr>
        <p:txBody>
          <a:bodyPr wrap="square">
            <a:spAutoFit/>
          </a:bodyPr>
          <a:lstStyle/>
          <a:p>
            <a:pPr algn="l">
              <a:defRPr sz="900" b="0">
                <a:solidFill>
                  <a:srgbClr val="94A3B8"/>
                </a:solidFill>
                <a:latin typeface="Calibri"/>
              </a:defRPr>
            </a:pPr>
            <a:r>
              <a:t>Millions of records</a:t>
            </a:r>
          </a:p>
        </p:txBody>
      </p:sp>
      <p:sp>
        <p:nvSpPr>
          <p:cNvPr id="20" name="TextBox 19"/>
          <p:cNvSpPr txBox="1"/>
          <p:nvPr/>
        </p:nvSpPr>
        <p:spPr>
          <a:xfrm>
            <a:off x="4206240" y="3355848"/>
            <a:ext cx="1828800" cy="320040"/>
          </a:xfrm>
          <a:prstGeom prst="rect">
            <a:avLst/>
          </a:prstGeom>
          <a:noFill/>
        </p:spPr>
        <p:txBody>
          <a:bodyPr wrap="square">
            <a:spAutoFit/>
          </a:bodyPr>
          <a:lstStyle/>
          <a:p>
            <a:pPr algn="l">
              <a:defRPr sz="900" b="0">
                <a:solidFill>
                  <a:srgbClr val="94A3B8"/>
                </a:solidFill>
                <a:latin typeface="Calibri"/>
              </a:defRPr>
            </a:pPr>
            <a:r>
              <a:t>Thousands (targeted)</a:t>
            </a:r>
          </a:p>
        </p:txBody>
      </p:sp>
      <p:sp>
        <p:nvSpPr>
          <p:cNvPr id="21" name="Rounded Rectangle 20"/>
          <p:cNvSpPr/>
          <p:nvPr/>
        </p:nvSpPr>
        <p:spPr>
          <a:xfrm>
            <a:off x="457200" y="3758183"/>
            <a:ext cx="5669280" cy="393192"/>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94759"/>
            <a:ext cx="1371600" cy="320040"/>
          </a:xfrm>
          <a:prstGeom prst="rect">
            <a:avLst/>
          </a:prstGeom>
          <a:noFill/>
        </p:spPr>
        <p:txBody>
          <a:bodyPr wrap="square">
            <a:spAutoFit/>
          </a:bodyPr>
          <a:lstStyle/>
          <a:p>
            <a:pPr algn="l">
              <a:defRPr sz="900" b="1">
                <a:solidFill>
                  <a:srgbClr val="F8FAFC"/>
                </a:solidFill>
                <a:latin typeface="Calibri"/>
              </a:defRPr>
            </a:pPr>
            <a:r>
              <a:t>Labelling</a:t>
            </a:r>
          </a:p>
        </p:txBody>
      </p:sp>
      <p:sp>
        <p:nvSpPr>
          <p:cNvPr id="23" name="TextBox 22"/>
          <p:cNvSpPr txBox="1"/>
          <p:nvPr/>
        </p:nvSpPr>
        <p:spPr>
          <a:xfrm>
            <a:off x="2103120" y="3794759"/>
            <a:ext cx="2011680" cy="320040"/>
          </a:xfrm>
          <a:prstGeom prst="rect">
            <a:avLst/>
          </a:prstGeom>
          <a:noFill/>
        </p:spPr>
        <p:txBody>
          <a:bodyPr wrap="square">
            <a:spAutoFit/>
          </a:bodyPr>
          <a:lstStyle/>
          <a:p>
            <a:pPr algn="l">
              <a:defRPr sz="900" b="0">
                <a:solidFill>
                  <a:srgbClr val="94A3B8"/>
                </a:solidFill>
                <a:latin typeface="Calibri"/>
              </a:defRPr>
            </a:pPr>
            <a:r>
              <a:t>Pre-labelled by authors</a:t>
            </a:r>
          </a:p>
        </p:txBody>
      </p:sp>
      <p:sp>
        <p:nvSpPr>
          <p:cNvPr id="24" name="TextBox 23"/>
          <p:cNvSpPr txBox="1"/>
          <p:nvPr/>
        </p:nvSpPr>
        <p:spPr>
          <a:xfrm>
            <a:off x="4206240" y="3794759"/>
            <a:ext cx="1828800" cy="320040"/>
          </a:xfrm>
          <a:prstGeom prst="rect">
            <a:avLst/>
          </a:prstGeom>
          <a:noFill/>
        </p:spPr>
        <p:txBody>
          <a:bodyPr wrap="square">
            <a:spAutoFit/>
          </a:bodyPr>
          <a:lstStyle/>
          <a:p>
            <a:pPr algn="l">
              <a:defRPr sz="900" b="0">
                <a:solidFill>
                  <a:srgbClr val="94A3B8"/>
                </a:solidFill>
                <a:latin typeface="Calibri"/>
              </a:defRPr>
            </a:pPr>
            <a:r>
              <a:t>Ground truth from sim</a:t>
            </a:r>
          </a:p>
        </p:txBody>
      </p:sp>
      <p:sp>
        <p:nvSpPr>
          <p:cNvPr id="25" name="Rounded Rectangle 24"/>
          <p:cNvSpPr/>
          <p:nvPr/>
        </p:nvSpPr>
        <p:spPr>
          <a:xfrm>
            <a:off x="457200" y="4197096"/>
            <a:ext cx="5669280" cy="393192"/>
          </a:xfrm>
          <a:prstGeom prst="roundRect">
            <a:avLst/>
          </a:prstGeom>
          <a:solidFill>
            <a:srgbClr val="15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233672"/>
            <a:ext cx="1371600" cy="320040"/>
          </a:xfrm>
          <a:prstGeom prst="rect">
            <a:avLst/>
          </a:prstGeom>
          <a:noFill/>
        </p:spPr>
        <p:txBody>
          <a:bodyPr wrap="square">
            <a:spAutoFit/>
          </a:bodyPr>
          <a:lstStyle/>
          <a:p>
            <a:pPr algn="l">
              <a:defRPr sz="900" b="1">
                <a:solidFill>
                  <a:srgbClr val="F8FAFC"/>
                </a:solidFill>
                <a:latin typeface="Calibri"/>
              </a:defRPr>
            </a:pPr>
            <a:r>
              <a:t>Cloud Specific?</a:t>
            </a:r>
          </a:p>
        </p:txBody>
      </p:sp>
      <p:sp>
        <p:nvSpPr>
          <p:cNvPr id="27" name="TextBox 26"/>
          <p:cNvSpPr txBox="1"/>
          <p:nvPr/>
        </p:nvSpPr>
        <p:spPr>
          <a:xfrm>
            <a:off x="2103120" y="4233672"/>
            <a:ext cx="2011680" cy="320040"/>
          </a:xfrm>
          <a:prstGeom prst="rect">
            <a:avLst/>
          </a:prstGeom>
          <a:noFill/>
        </p:spPr>
        <p:txBody>
          <a:bodyPr wrap="square">
            <a:spAutoFit/>
          </a:bodyPr>
          <a:lstStyle/>
          <a:p>
            <a:pPr algn="l">
              <a:defRPr sz="900" b="0">
                <a:solidFill>
                  <a:srgbClr val="94A3B8"/>
                </a:solidFill>
                <a:latin typeface="Calibri"/>
              </a:defRPr>
            </a:pPr>
            <a:r>
              <a:t>Partially (generic)</a:t>
            </a:r>
          </a:p>
        </p:txBody>
      </p:sp>
      <p:sp>
        <p:nvSpPr>
          <p:cNvPr id="28" name="TextBox 27"/>
          <p:cNvSpPr txBox="1"/>
          <p:nvPr/>
        </p:nvSpPr>
        <p:spPr>
          <a:xfrm>
            <a:off x="4206240" y="4233672"/>
            <a:ext cx="1828800" cy="320040"/>
          </a:xfrm>
          <a:prstGeom prst="rect">
            <a:avLst/>
          </a:prstGeom>
          <a:noFill/>
        </p:spPr>
        <p:txBody>
          <a:bodyPr wrap="square">
            <a:spAutoFit/>
          </a:bodyPr>
          <a:lstStyle/>
          <a:p>
            <a:pPr algn="l">
              <a:defRPr sz="900" b="0">
                <a:solidFill>
                  <a:srgbClr val="94A3B8"/>
                </a:solidFill>
                <a:latin typeface="Calibri"/>
              </a:defRPr>
            </a:pPr>
            <a:r>
              <a:t>Fully cloud-native</a:t>
            </a:r>
          </a:p>
        </p:txBody>
      </p:sp>
      <p:sp>
        <p:nvSpPr>
          <p:cNvPr id="29" name="Rounded Rectangle 28"/>
          <p:cNvSpPr/>
          <p:nvPr/>
        </p:nvSpPr>
        <p:spPr>
          <a:xfrm>
            <a:off x="457200" y="4636008"/>
            <a:ext cx="5669280" cy="393192"/>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672584"/>
            <a:ext cx="1371600" cy="320040"/>
          </a:xfrm>
          <a:prstGeom prst="rect">
            <a:avLst/>
          </a:prstGeom>
          <a:noFill/>
        </p:spPr>
        <p:txBody>
          <a:bodyPr wrap="square">
            <a:spAutoFit/>
          </a:bodyPr>
          <a:lstStyle/>
          <a:p>
            <a:pPr algn="l">
              <a:defRPr sz="900" b="1">
                <a:solidFill>
                  <a:srgbClr val="F8FAFC"/>
                </a:solidFill>
                <a:latin typeface="Calibri"/>
              </a:defRPr>
            </a:pPr>
            <a:r>
              <a:t>Primary Role</a:t>
            </a:r>
          </a:p>
        </p:txBody>
      </p:sp>
      <p:sp>
        <p:nvSpPr>
          <p:cNvPr id="31" name="TextBox 30"/>
          <p:cNvSpPr txBox="1"/>
          <p:nvPr/>
        </p:nvSpPr>
        <p:spPr>
          <a:xfrm>
            <a:off x="2103120" y="4672584"/>
            <a:ext cx="2011680" cy="320040"/>
          </a:xfrm>
          <a:prstGeom prst="rect">
            <a:avLst/>
          </a:prstGeom>
          <a:noFill/>
        </p:spPr>
        <p:txBody>
          <a:bodyPr wrap="square">
            <a:spAutoFit/>
          </a:bodyPr>
          <a:lstStyle/>
          <a:p>
            <a:pPr algn="l">
              <a:defRPr sz="900" b="0">
                <a:solidFill>
                  <a:srgbClr val="94A3B8"/>
                </a:solidFill>
                <a:latin typeface="Calibri"/>
              </a:defRPr>
            </a:pPr>
            <a:r>
              <a:t>Training + benchmarking</a:t>
            </a:r>
          </a:p>
        </p:txBody>
      </p:sp>
      <p:sp>
        <p:nvSpPr>
          <p:cNvPr id="32" name="TextBox 31"/>
          <p:cNvSpPr txBox="1"/>
          <p:nvPr/>
        </p:nvSpPr>
        <p:spPr>
          <a:xfrm>
            <a:off x="4206240" y="4672584"/>
            <a:ext cx="1828800" cy="320040"/>
          </a:xfrm>
          <a:prstGeom prst="rect">
            <a:avLst/>
          </a:prstGeom>
          <a:noFill/>
        </p:spPr>
        <p:txBody>
          <a:bodyPr wrap="square">
            <a:spAutoFit/>
          </a:bodyPr>
          <a:lstStyle/>
          <a:p>
            <a:pPr algn="l">
              <a:defRPr sz="900" b="0">
                <a:solidFill>
                  <a:srgbClr val="94A3B8"/>
                </a:solidFill>
                <a:latin typeface="Calibri"/>
              </a:defRPr>
            </a:pPr>
            <a:r>
              <a:t>Validation + gap filling</a:t>
            </a:r>
          </a:p>
        </p:txBody>
      </p:sp>
      <p:sp>
        <p:nvSpPr>
          <p:cNvPr id="33" name="Rounded Rectangle 32"/>
          <p:cNvSpPr/>
          <p:nvPr/>
        </p:nvSpPr>
        <p:spPr>
          <a:xfrm>
            <a:off x="457200" y="5074920"/>
            <a:ext cx="5669280" cy="393192"/>
          </a:xfrm>
          <a:prstGeom prst="roundRect">
            <a:avLst/>
          </a:prstGeom>
          <a:solidFill>
            <a:srgbClr val="15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111496"/>
            <a:ext cx="1371600" cy="320040"/>
          </a:xfrm>
          <a:prstGeom prst="rect">
            <a:avLst/>
          </a:prstGeom>
          <a:noFill/>
        </p:spPr>
        <p:txBody>
          <a:bodyPr wrap="square">
            <a:spAutoFit/>
          </a:bodyPr>
          <a:lstStyle/>
          <a:p>
            <a:pPr algn="l">
              <a:defRPr sz="900" b="1">
                <a:solidFill>
                  <a:srgbClr val="F8FAFC"/>
                </a:solidFill>
                <a:latin typeface="Calibri"/>
              </a:defRPr>
            </a:pPr>
            <a:r>
              <a:t>Reproducible?</a:t>
            </a:r>
          </a:p>
        </p:txBody>
      </p:sp>
      <p:sp>
        <p:nvSpPr>
          <p:cNvPr id="35" name="TextBox 34"/>
          <p:cNvSpPr txBox="1"/>
          <p:nvPr/>
        </p:nvSpPr>
        <p:spPr>
          <a:xfrm>
            <a:off x="2103120" y="5111496"/>
            <a:ext cx="2011680" cy="320040"/>
          </a:xfrm>
          <a:prstGeom prst="rect">
            <a:avLst/>
          </a:prstGeom>
          <a:noFill/>
        </p:spPr>
        <p:txBody>
          <a:bodyPr wrap="square">
            <a:spAutoFit/>
          </a:bodyPr>
          <a:lstStyle/>
          <a:p>
            <a:pPr algn="l">
              <a:defRPr sz="900" b="0">
                <a:solidFill>
                  <a:srgbClr val="94A3B8"/>
                </a:solidFill>
                <a:latin typeface="Calibri"/>
              </a:defRPr>
            </a:pPr>
            <a:r>
              <a:t>Fully (public access)</a:t>
            </a:r>
          </a:p>
        </p:txBody>
      </p:sp>
      <p:sp>
        <p:nvSpPr>
          <p:cNvPr id="36" name="TextBox 35"/>
          <p:cNvSpPr txBox="1"/>
          <p:nvPr/>
        </p:nvSpPr>
        <p:spPr>
          <a:xfrm>
            <a:off x="4206240" y="5111496"/>
            <a:ext cx="1828800" cy="320040"/>
          </a:xfrm>
          <a:prstGeom prst="rect">
            <a:avLst/>
          </a:prstGeom>
          <a:noFill/>
        </p:spPr>
        <p:txBody>
          <a:bodyPr wrap="square">
            <a:spAutoFit/>
          </a:bodyPr>
          <a:lstStyle/>
          <a:p>
            <a:pPr algn="l">
              <a:defRPr sz="900" b="0">
                <a:solidFill>
                  <a:srgbClr val="94A3B8"/>
                </a:solidFill>
                <a:latin typeface="Calibri"/>
              </a:defRPr>
            </a:pPr>
            <a:r>
              <a:t>Via documented procedure</a:t>
            </a:r>
          </a:p>
        </p:txBody>
      </p:sp>
      <p:sp>
        <p:nvSpPr>
          <p:cNvPr id="37" name="Rounded Rectangle 36"/>
          <p:cNvSpPr/>
          <p:nvPr/>
        </p:nvSpPr>
        <p:spPr>
          <a:xfrm>
            <a:off x="6583680" y="1828800"/>
            <a:ext cx="5120640" cy="2743200"/>
          </a:xfrm>
          <a:prstGeom prst="roundRect">
            <a:avLst/>
          </a:prstGeom>
          <a:solidFill>
            <a:srgbClr val="1A233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0" y="2011680"/>
            <a:ext cx="4572000" cy="365760"/>
          </a:xfrm>
          <a:prstGeom prst="rect">
            <a:avLst/>
          </a:prstGeom>
          <a:noFill/>
        </p:spPr>
        <p:txBody>
          <a:bodyPr wrap="square">
            <a:spAutoFit/>
          </a:bodyPr>
          <a:lstStyle/>
          <a:p>
            <a:pPr algn="l">
              <a:defRPr sz="1300" b="1">
                <a:solidFill>
                  <a:srgbClr val="6EE7B7"/>
                </a:solidFill>
                <a:latin typeface="Calibri"/>
              </a:defRPr>
            </a:pPr>
            <a:r>
              <a:t>Why This Combination Works</a:t>
            </a:r>
          </a:p>
        </p:txBody>
      </p:sp>
      <p:sp>
        <p:nvSpPr>
          <p:cNvPr id="39" name="TextBox 38"/>
          <p:cNvSpPr txBox="1"/>
          <p:nvPr/>
        </p:nvSpPr>
        <p:spPr>
          <a:xfrm>
            <a:off x="7040880" y="2468880"/>
            <a:ext cx="4572000" cy="256032"/>
          </a:xfrm>
          <a:prstGeom prst="rect">
            <a:avLst/>
          </a:prstGeom>
          <a:noFill/>
        </p:spPr>
        <p:txBody>
          <a:bodyPr wrap="square">
            <a:spAutoFit/>
          </a:bodyPr>
          <a:lstStyle/>
          <a:p>
            <a:pPr algn="l">
              <a:defRPr sz="1000" b="1">
                <a:solidFill>
                  <a:srgbClr val="F8FAFC"/>
                </a:solidFill>
                <a:latin typeface="Calibri"/>
              </a:defRPr>
            </a:pPr>
            <a:r>
              <a:t>  Breadth meets depth</a:t>
            </a:r>
          </a:p>
        </p:txBody>
      </p:sp>
      <p:sp>
        <p:nvSpPr>
          <p:cNvPr id="40" name="TextBox 39"/>
          <p:cNvSpPr txBox="1"/>
          <p:nvPr/>
        </p:nvSpPr>
        <p:spPr>
          <a:xfrm>
            <a:off x="7040880" y="2706624"/>
            <a:ext cx="4572000" cy="274320"/>
          </a:xfrm>
          <a:prstGeom prst="rect">
            <a:avLst/>
          </a:prstGeom>
          <a:noFill/>
        </p:spPr>
        <p:txBody>
          <a:bodyPr wrap="square">
            <a:spAutoFit/>
          </a:bodyPr>
          <a:lstStyle/>
          <a:p>
            <a:pPr algn="l">
              <a:defRPr sz="900" b="0">
                <a:solidFill>
                  <a:srgbClr val="94A3B8"/>
                </a:solidFill>
                <a:latin typeface="Calibri"/>
              </a:defRPr>
            </a:pPr>
            <a:r>
              <a:t>    Benchmarks for fair comparison; experiment for cloud validation</a:t>
            </a:r>
          </a:p>
        </p:txBody>
      </p:sp>
      <p:sp>
        <p:nvSpPr>
          <p:cNvPr id="41" name="TextBox 40"/>
          <p:cNvSpPr txBox="1"/>
          <p:nvPr/>
        </p:nvSpPr>
        <p:spPr>
          <a:xfrm>
            <a:off x="7040880" y="3017520"/>
            <a:ext cx="4572000" cy="256032"/>
          </a:xfrm>
          <a:prstGeom prst="rect">
            <a:avLst/>
          </a:prstGeom>
          <a:noFill/>
        </p:spPr>
        <p:txBody>
          <a:bodyPr wrap="square">
            <a:spAutoFit/>
          </a:bodyPr>
          <a:lstStyle/>
          <a:p>
            <a:pPr algn="l">
              <a:defRPr sz="1000" b="1">
                <a:solidFill>
                  <a:srgbClr val="F8FAFC"/>
                </a:solidFill>
                <a:latin typeface="Calibri"/>
              </a:defRPr>
            </a:pPr>
            <a:r>
              <a:t>  Historical meets current</a:t>
            </a:r>
          </a:p>
        </p:txBody>
      </p:sp>
      <p:sp>
        <p:nvSpPr>
          <p:cNvPr id="42" name="TextBox 41"/>
          <p:cNvSpPr txBox="1"/>
          <p:nvPr/>
        </p:nvSpPr>
        <p:spPr>
          <a:xfrm>
            <a:off x="7040880" y="3255264"/>
            <a:ext cx="4572000" cy="274320"/>
          </a:xfrm>
          <a:prstGeom prst="rect">
            <a:avLst/>
          </a:prstGeom>
          <a:noFill/>
        </p:spPr>
        <p:txBody>
          <a:bodyPr wrap="square">
            <a:spAutoFit/>
          </a:bodyPr>
          <a:lstStyle/>
          <a:p>
            <a:pPr algn="l">
              <a:defRPr sz="900" b="0">
                <a:solidFill>
                  <a:srgbClr val="94A3B8"/>
                </a:solidFill>
                <a:latin typeface="Calibri"/>
              </a:defRPr>
            </a:pPr>
            <a:r>
              <a:t>    Established patterns plus latest APT techniques</a:t>
            </a:r>
          </a:p>
        </p:txBody>
      </p:sp>
      <p:sp>
        <p:nvSpPr>
          <p:cNvPr id="43" name="TextBox 42"/>
          <p:cNvSpPr txBox="1"/>
          <p:nvPr/>
        </p:nvSpPr>
        <p:spPr>
          <a:xfrm>
            <a:off x="7040880" y="3566160"/>
            <a:ext cx="4572000" cy="256032"/>
          </a:xfrm>
          <a:prstGeom prst="rect">
            <a:avLst/>
          </a:prstGeom>
          <a:noFill/>
        </p:spPr>
        <p:txBody>
          <a:bodyPr wrap="square">
            <a:spAutoFit/>
          </a:bodyPr>
          <a:lstStyle/>
          <a:p>
            <a:pPr algn="l">
              <a:defRPr sz="1000" b="1">
                <a:solidFill>
                  <a:srgbClr val="F8FAFC"/>
                </a:solidFill>
                <a:latin typeface="Calibri"/>
              </a:defRPr>
            </a:pPr>
            <a:r>
              <a:t>  Community meets novelty</a:t>
            </a:r>
          </a:p>
        </p:txBody>
      </p:sp>
      <p:sp>
        <p:nvSpPr>
          <p:cNvPr id="44" name="TextBox 43"/>
          <p:cNvSpPr txBox="1"/>
          <p:nvPr/>
        </p:nvSpPr>
        <p:spPr>
          <a:xfrm>
            <a:off x="7040880" y="3803904"/>
            <a:ext cx="4572000" cy="274320"/>
          </a:xfrm>
          <a:prstGeom prst="rect">
            <a:avLst/>
          </a:prstGeom>
          <a:noFill/>
        </p:spPr>
        <p:txBody>
          <a:bodyPr wrap="square">
            <a:spAutoFit/>
          </a:bodyPr>
          <a:lstStyle/>
          <a:p>
            <a:pPr algn="l">
              <a:defRPr sz="900" b="0">
                <a:solidFill>
                  <a:srgbClr val="94A3B8"/>
                </a:solidFill>
                <a:latin typeface="Calibri"/>
              </a:defRPr>
            </a:pPr>
            <a:r>
              <a:t>    Peers can replicate; simulation contributes new data</a:t>
            </a:r>
          </a:p>
        </p:txBody>
      </p:sp>
      <p:sp>
        <p:nvSpPr>
          <p:cNvPr id="45" name="TextBox 44"/>
          <p:cNvSpPr txBox="1"/>
          <p:nvPr/>
        </p:nvSpPr>
        <p:spPr>
          <a:xfrm>
            <a:off x="7040880" y="4114800"/>
            <a:ext cx="4572000" cy="256032"/>
          </a:xfrm>
          <a:prstGeom prst="rect">
            <a:avLst/>
          </a:prstGeom>
          <a:noFill/>
        </p:spPr>
        <p:txBody>
          <a:bodyPr wrap="square">
            <a:spAutoFit/>
          </a:bodyPr>
          <a:lstStyle/>
          <a:p>
            <a:pPr algn="l">
              <a:defRPr sz="1000" b="1">
                <a:solidFill>
                  <a:srgbClr val="F8FAFC"/>
                </a:solidFill>
                <a:latin typeface="Calibri"/>
              </a:defRPr>
            </a:pPr>
            <a:r>
              <a:t>  Aligns with methodology</a:t>
            </a:r>
          </a:p>
        </p:txBody>
      </p:sp>
      <p:sp>
        <p:nvSpPr>
          <p:cNvPr id="46" name="TextBox 45"/>
          <p:cNvSpPr txBox="1"/>
          <p:nvPr/>
        </p:nvSpPr>
        <p:spPr>
          <a:xfrm>
            <a:off x="7040880" y="4352544"/>
            <a:ext cx="4572000" cy="274320"/>
          </a:xfrm>
          <a:prstGeom prst="rect">
            <a:avLst/>
          </a:prstGeom>
          <a:noFill/>
        </p:spPr>
        <p:txBody>
          <a:bodyPr wrap="square">
            <a:spAutoFit/>
          </a:bodyPr>
          <a:lstStyle/>
          <a:p>
            <a:pPr algn="l">
              <a:defRPr sz="900" b="0">
                <a:solidFill>
                  <a:srgbClr val="94A3B8"/>
                </a:solidFill>
                <a:latin typeface="Calibri"/>
              </a:defRPr>
            </a:pPr>
            <a:r>
              <a:t>    Both produce structured numerical data for quantitative analysis</a:t>
            </a:r>
          </a:p>
        </p:txBody>
      </p:sp>
      <p:sp>
        <p:nvSpPr>
          <p:cNvPr id="47" name="Rounded Rectangle 46"/>
          <p:cNvSpPr/>
          <p:nvPr/>
        </p:nvSpPr>
        <p:spPr>
          <a:xfrm>
            <a:off x="365760" y="5852160"/>
            <a:ext cx="11338560" cy="822960"/>
          </a:xfrm>
          <a:prstGeom prst="roundRect">
            <a:avLst/>
          </a:prstGeom>
          <a:solidFill>
            <a:srgbClr val="0A1A20"/>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5943600"/>
            <a:ext cx="10972800" cy="640080"/>
          </a:xfrm>
          <a:prstGeom prst="rect">
            <a:avLst/>
          </a:prstGeom>
          <a:noFill/>
        </p:spPr>
        <p:txBody>
          <a:bodyPr wrap="square">
            <a:spAutoFit/>
          </a:bodyPr>
          <a:lstStyle/>
          <a:p>
            <a:pPr algn="ctr">
              <a:defRPr sz="1000" b="1">
                <a:solidFill>
                  <a:srgbClr val="F8FAFC"/>
                </a:solidFill>
                <a:latin typeface="Calibri"/>
              </a:defRPr>
            </a:pPr>
            <a:r>
              <a:t>By combining a well-established data source with a purpose-built experimental environment, we cover both the rigour expected by the academic community and the practical relevance demanded by industry. Together they provide exactly the evidence base our research questions require.</a:t>
            </a:r>
          </a:p>
        </p:txBody>
      </p:sp>
      <p:sp>
        <p:nvSpPr>
          <p:cNvPr id="49" name="TextBox 48"/>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03 / 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