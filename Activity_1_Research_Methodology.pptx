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3B82F6">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2286000"/>
            <a:ext cx="3657600" cy="3657600"/>
          </a:xfrm>
          <a:prstGeom prst="ellipse">
            <a:avLst/>
          </a:prstGeom>
          <a:solidFill>
            <a:srgbClr val="7C3AED">
              <a:alpha val="6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548640"/>
            <a:ext cx="7315200" cy="320040"/>
          </a:xfrm>
          <a:prstGeom prst="rect">
            <a:avLst/>
          </a:prstGeom>
          <a:noFill/>
        </p:spPr>
        <p:txBody>
          <a:bodyPr wrap="square">
            <a:spAutoFit/>
          </a:bodyPr>
          <a:lstStyle/>
          <a:p>
            <a:pPr algn="ctr">
              <a:defRPr sz="900" b="1">
                <a:solidFill>
                  <a:srgbClr val="93C5FD"/>
                </a:solidFill>
                <a:latin typeface="Calibri"/>
              </a:defRPr>
            </a:pPr>
            <a:r>
              <a:t>ACTIVITY 1: RESEARCH METHODOLOGY SELECTION</a:t>
            </a:r>
          </a:p>
        </p:txBody>
      </p:sp>
      <p:sp>
        <p:nvSpPr>
          <p:cNvPr id="6" name="TextBox 5"/>
          <p:cNvSpPr txBox="1"/>
          <p:nvPr/>
        </p:nvSpPr>
        <p:spPr>
          <a:xfrm>
            <a:off x="1371600" y="1097280"/>
            <a:ext cx="9418320" cy="1097280"/>
          </a:xfrm>
          <a:prstGeom prst="rect">
            <a:avLst/>
          </a:prstGeom>
          <a:noFill/>
        </p:spPr>
        <p:txBody>
          <a:bodyPr wrap="square">
            <a:spAutoFit/>
          </a:bodyPr>
          <a:lstStyle/>
          <a:p>
            <a:pPr algn="ctr">
              <a:defRPr sz="3000" b="1">
                <a:solidFill>
                  <a:srgbClr val="F8FAFC"/>
                </a:solidFill>
                <a:latin typeface="Calibri"/>
              </a:defRPr>
            </a:pPr>
            <a:r>
              <a:t>Identifying the Right Research Methodology</a:t>
            </a:r>
          </a:p>
        </p:txBody>
      </p:sp>
      <p:sp>
        <p:nvSpPr>
          <p:cNvPr id="7" name="TextBox 6"/>
          <p:cNvSpPr txBox="1"/>
          <p:nvPr/>
        </p:nvSpPr>
        <p:spPr>
          <a:xfrm>
            <a:off x="1645920" y="2194560"/>
            <a:ext cx="8869680" cy="914400"/>
          </a:xfrm>
          <a:prstGeom prst="rect">
            <a:avLst/>
          </a:prstGeom>
          <a:noFill/>
        </p:spPr>
        <p:txBody>
          <a:bodyPr wrap="square">
            <a:spAutoFit/>
          </a:bodyPr>
          <a:lstStyle/>
          <a:p>
            <a:pPr algn="ctr">
              <a:defRPr sz="1200" b="0">
                <a:solidFill>
                  <a:srgbClr val="CBD5E1"/>
                </a:solidFill>
                <a:latin typeface="Calibri"/>
              </a:defRPr>
            </a:pPr>
            <a:r>
              <a:t>Our study focuses on detecting Advanced Persistent Threats in cloud networks using artificial intelligence. Before diving into experiments, we need to select a methodology that matches the nature of our research problem.</a:t>
            </a:r>
          </a:p>
        </p:txBody>
      </p:sp>
      <p:sp>
        <p:nvSpPr>
          <p:cNvPr id="8" name="Rounded Rectangle 7"/>
          <p:cNvSpPr/>
          <p:nvPr/>
        </p:nvSpPr>
        <p:spPr>
          <a:xfrm>
            <a:off x="457200" y="3383280"/>
            <a:ext cx="5486400" cy="310896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566160"/>
            <a:ext cx="4937760" cy="365760"/>
          </a:xfrm>
          <a:prstGeom prst="rect">
            <a:avLst/>
          </a:prstGeom>
          <a:noFill/>
        </p:spPr>
        <p:txBody>
          <a:bodyPr wrap="square">
            <a:spAutoFit/>
          </a:bodyPr>
          <a:lstStyle/>
          <a:p>
            <a:pPr algn="l">
              <a:defRPr sz="1300" b="1">
                <a:solidFill>
                  <a:srgbClr val="93C5FD"/>
                </a:solidFill>
                <a:latin typeface="Calibri"/>
              </a:defRPr>
            </a:pPr>
            <a:r>
              <a:t>Background &amp; Problem Statement</a:t>
            </a:r>
          </a:p>
        </p:txBody>
      </p:sp>
      <p:sp>
        <p:nvSpPr>
          <p:cNvPr id="10" name="TextBox 9"/>
          <p:cNvSpPr txBox="1"/>
          <p:nvPr/>
        </p:nvSpPr>
        <p:spPr>
          <a:xfrm>
            <a:off x="731520" y="4023360"/>
            <a:ext cx="4937760" cy="2377440"/>
          </a:xfrm>
          <a:prstGeom prst="rect">
            <a:avLst/>
          </a:prstGeom>
          <a:noFill/>
        </p:spPr>
        <p:txBody>
          <a:bodyPr wrap="square">
            <a:spAutoFit/>
          </a:bodyPr>
          <a:lstStyle/>
          <a:p>
            <a:pPr algn="l">
              <a:defRPr sz="1000" b="0">
                <a:solidFill>
                  <a:srgbClr val="94A3B8"/>
                </a:solidFill>
                <a:latin typeface="Calibri"/>
              </a:defRPr>
            </a:pPr>
            <a:r>
              <a:t>Cloud computing has become the backbone of modern enterprise infrastructure, but it has also opened new doors for sophisticated attackers. APTs are long-running campaigns that infiltrate networks and stay hidden for months. Traditional security tools rely on known signatures and simple rules, which APT actors easily bypass. We need intelligent systems that learn and adapt.</a:t>
            </a:r>
          </a:p>
        </p:txBody>
      </p:sp>
      <p:sp>
        <p:nvSpPr>
          <p:cNvPr id="11" name="Rounded Rectangle 10"/>
          <p:cNvSpPr/>
          <p:nvPr/>
        </p:nvSpPr>
        <p:spPr>
          <a:xfrm>
            <a:off x="6217920" y="3383280"/>
            <a:ext cx="5486400" cy="310896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566160"/>
            <a:ext cx="4937760" cy="365760"/>
          </a:xfrm>
          <a:prstGeom prst="rect">
            <a:avLst/>
          </a:prstGeom>
          <a:noFill/>
        </p:spPr>
        <p:txBody>
          <a:bodyPr wrap="square">
            <a:spAutoFit/>
          </a:bodyPr>
          <a:lstStyle/>
          <a:p>
            <a:pPr algn="l">
              <a:defRPr sz="1300" b="1">
                <a:solidFill>
                  <a:srgbClr val="67E8F9"/>
                </a:solidFill>
                <a:latin typeface="Calibri"/>
              </a:defRPr>
            </a:pPr>
            <a:r>
              <a:t>Research Aim &amp; Objectives</a:t>
            </a:r>
          </a:p>
        </p:txBody>
      </p:sp>
      <p:sp>
        <p:nvSpPr>
          <p:cNvPr id="13" name="TextBox 12"/>
          <p:cNvSpPr txBox="1"/>
          <p:nvPr/>
        </p:nvSpPr>
        <p:spPr>
          <a:xfrm>
            <a:off x="6492240" y="4023360"/>
            <a:ext cx="4937760" cy="548640"/>
          </a:xfrm>
          <a:prstGeom prst="rect">
            <a:avLst/>
          </a:prstGeom>
          <a:noFill/>
        </p:spPr>
        <p:txBody>
          <a:bodyPr wrap="square">
            <a:spAutoFit/>
          </a:bodyPr>
          <a:lstStyle/>
          <a:p>
            <a:pPr algn="l">
              <a:defRPr sz="1000" b="1">
                <a:solidFill>
                  <a:srgbClr val="F8FAFC"/>
                </a:solidFill>
                <a:latin typeface="Calibri"/>
              </a:defRPr>
            </a:pPr>
            <a:r>
              <a:t>Aim: Develop and evaluate an AI-driven detection framework capable of identifying multi-stage APT attacks in cloud environments.</a:t>
            </a:r>
          </a:p>
        </p:txBody>
      </p:sp>
      <p:sp>
        <p:nvSpPr>
          <p:cNvPr id="14" name="TextBox 13"/>
          <p:cNvSpPr txBox="1"/>
          <p:nvPr/>
        </p:nvSpPr>
        <p:spPr>
          <a:xfrm>
            <a:off x="6675120" y="4663440"/>
            <a:ext cx="4754880" cy="347472"/>
          </a:xfrm>
          <a:prstGeom prst="rect">
            <a:avLst/>
          </a:prstGeom>
          <a:noFill/>
        </p:spPr>
        <p:txBody>
          <a:bodyPr wrap="square">
            <a:spAutoFit/>
          </a:bodyPr>
          <a:lstStyle/>
          <a:p>
            <a:pPr algn="l">
              <a:defRPr sz="1000" b="0">
                <a:solidFill>
                  <a:srgbClr val="94A3B8"/>
                </a:solidFill>
                <a:latin typeface="Calibri"/>
              </a:defRPr>
            </a:pPr>
            <a:r>
              <a:t>1. Design a hybrid deep learning architecture for cloud traffic analysis</a:t>
            </a:r>
          </a:p>
        </p:txBody>
      </p:sp>
      <p:sp>
        <p:nvSpPr>
          <p:cNvPr id="15" name="TextBox 14"/>
          <p:cNvSpPr txBox="1"/>
          <p:nvPr/>
        </p:nvSpPr>
        <p:spPr>
          <a:xfrm>
            <a:off x="6675120" y="5047488"/>
            <a:ext cx="4754880" cy="347472"/>
          </a:xfrm>
          <a:prstGeom prst="rect">
            <a:avLst/>
          </a:prstGeom>
          <a:noFill/>
        </p:spPr>
        <p:txBody>
          <a:bodyPr wrap="square">
            <a:spAutoFit/>
          </a:bodyPr>
          <a:lstStyle/>
          <a:p>
            <a:pPr algn="l">
              <a:defRPr sz="1000" b="0">
                <a:solidFill>
                  <a:srgbClr val="94A3B8"/>
                </a:solidFill>
                <a:latin typeface="Calibri"/>
              </a:defRPr>
            </a:pPr>
            <a:r>
              <a:t>2. Benchmark performance against established detection methods</a:t>
            </a:r>
          </a:p>
        </p:txBody>
      </p:sp>
      <p:sp>
        <p:nvSpPr>
          <p:cNvPr id="16" name="TextBox 15"/>
          <p:cNvSpPr txBox="1"/>
          <p:nvPr/>
        </p:nvSpPr>
        <p:spPr>
          <a:xfrm>
            <a:off x="6675120" y="5431536"/>
            <a:ext cx="4754880" cy="347472"/>
          </a:xfrm>
          <a:prstGeom prst="rect">
            <a:avLst/>
          </a:prstGeom>
          <a:noFill/>
        </p:spPr>
        <p:txBody>
          <a:bodyPr wrap="square">
            <a:spAutoFit/>
          </a:bodyPr>
          <a:lstStyle/>
          <a:p>
            <a:pPr algn="l">
              <a:defRPr sz="1000" b="0">
                <a:solidFill>
                  <a:srgbClr val="94A3B8"/>
                </a:solidFill>
                <a:latin typeface="Calibri"/>
              </a:defRPr>
            </a:pPr>
            <a:r>
              <a:t>3. Evaluate real-time detection feasibility in dynamic cloud environments</a:t>
            </a:r>
          </a:p>
        </p:txBody>
      </p:sp>
      <p:sp>
        <p:nvSpPr>
          <p:cNvPr id="17" name="TextBox 16"/>
          <p:cNvSpPr txBox="1"/>
          <p:nvPr/>
        </p:nvSpPr>
        <p:spPr>
          <a:xfrm>
            <a:off x="6675120" y="5815583"/>
            <a:ext cx="4754880" cy="347472"/>
          </a:xfrm>
          <a:prstGeom prst="rect">
            <a:avLst/>
          </a:prstGeom>
          <a:noFill/>
        </p:spPr>
        <p:txBody>
          <a:bodyPr wrap="square">
            <a:spAutoFit/>
          </a:bodyPr>
          <a:lstStyle/>
          <a:p>
            <a:pPr algn="l">
              <a:defRPr sz="1000" b="0">
                <a:solidFill>
                  <a:srgbClr val="94A3B8"/>
                </a:solidFill>
                <a:latin typeface="Calibri"/>
              </a:defRPr>
            </a:pPr>
            <a:r>
              <a:t>4. Provide explainable outputs that security teams can act on</a:t>
            </a:r>
          </a:p>
        </p:txBody>
      </p:sp>
      <p:sp>
        <p:nvSpPr>
          <p:cNvPr id="18" name="TextBox 17"/>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01 / 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3B82F6">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4572000" cy="274320"/>
          </a:xfrm>
          <a:prstGeom prst="rect">
            <a:avLst/>
          </a:prstGeom>
          <a:noFill/>
        </p:spPr>
        <p:txBody>
          <a:bodyPr wrap="square">
            <a:spAutoFit/>
          </a:bodyPr>
          <a:lstStyle/>
          <a:p>
            <a:pPr algn="l">
              <a:defRPr sz="900" b="1">
                <a:solidFill>
                  <a:srgbClr val="C4B5FD"/>
                </a:solidFill>
                <a:latin typeface="Calibri"/>
              </a:defRPr>
            </a:pPr>
            <a:r>
              <a:t>RESEARCH PHILOSOPHY &amp; APPROACH</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8FAFC"/>
                </a:solidFill>
                <a:latin typeface="Calibri"/>
              </a:defRPr>
            </a:pPr>
            <a:r>
              <a:t>Evaluating Research Philosophies</a:t>
            </a:r>
          </a:p>
        </p:txBody>
      </p:sp>
      <p:sp>
        <p:nvSpPr>
          <p:cNvPr id="6" name="TextBox 5"/>
          <p:cNvSpPr txBox="1"/>
          <p:nvPr/>
        </p:nvSpPr>
        <p:spPr>
          <a:xfrm>
            <a:off x="548640" y="1325880"/>
            <a:ext cx="9144000" cy="365760"/>
          </a:xfrm>
          <a:prstGeom prst="rect">
            <a:avLst/>
          </a:prstGeom>
          <a:noFill/>
        </p:spPr>
        <p:txBody>
          <a:bodyPr wrap="square">
            <a:spAutoFit/>
          </a:bodyPr>
          <a:lstStyle/>
          <a:p>
            <a:pPr algn="l">
              <a:defRPr sz="1100" b="0">
                <a:solidFill>
                  <a:srgbClr val="94A3B8"/>
                </a:solidFill>
                <a:latin typeface="Calibri"/>
              </a:defRPr>
            </a:pPr>
            <a:r>
              <a:t>Every research project rests on philosophical assumptions about how knowledge is created.</a:t>
            </a:r>
          </a:p>
        </p:txBody>
      </p:sp>
      <p:sp>
        <p:nvSpPr>
          <p:cNvPr id="7" name="Rounded Rectangle 6"/>
          <p:cNvSpPr/>
          <p:nvPr/>
        </p:nvSpPr>
        <p:spPr>
          <a:xfrm>
            <a:off x="365760" y="1783080"/>
            <a:ext cx="5577840" cy="219456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20240"/>
            <a:ext cx="5029200" cy="320040"/>
          </a:xfrm>
          <a:prstGeom prst="rect">
            <a:avLst/>
          </a:prstGeom>
          <a:noFill/>
        </p:spPr>
        <p:txBody>
          <a:bodyPr wrap="square">
            <a:spAutoFit/>
          </a:bodyPr>
          <a:lstStyle/>
          <a:p>
            <a:pPr algn="l">
              <a:defRPr sz="1200" b="1">
                <a:solidFill>
                  <a:srgbClr val="93C5FD"/>
                </a:solidFill>
                <a:latin typeface="Calibri"/>
              </a:defRPr>
            </a:pPr>
            <a:r>
              <a:t>Positivism</a:t>
            </a:r>
          </a:p>
        </p:txBody>
      </p:sp>
      <p:sp>
        <p:nvSpPr>
          <p:cNvPr id="9" name="TextBox 8"/>
          <p:cNvSpPr txBox="1"/>
          <p:nvPr/>
        </p:nvSpPr>
        <p:spPr>
          <a:xfrm>
            <a:off x="548640" y="2240280"/>
            <a:ext cx="5120640" cy="502920"/>
          </a:xfrm>
          <a:prstGeom prst="rect">
            <a:avLst/>
          </a:prstGeom>
          <a:noFill/>
        </p:spPr>
        <p:txBody>
          <a:bodyPr wrap="square">
            <a:spAutoFit/>
          </a:bodyPr>
          <a:lstStyle/>
          <a:p>
            <a:pPr algn="l">
              <a:defRPr sz="900" b="0">
                <a:solidFill>
                  <a:srgbClr val="CBD5E1"/>
                </a:solidFill>
                <a:latin typeface="Calibri"/>
              </a:defRPr>
            </a:pPr>
            <a:r>
              <a:t>Knowledge from observable, measurable phenomena. Values objectivity and hypothesis testing.</a:t>
            </a:r>
          </a:p>
        </p:txBody>
      </p:sp>
      <p:sp>
        <p:nvSpPr>
          <p:cNvPr id="10" name="TextBox 9"/>
          <p:cNvSpPr txBox="1"/>
          <p:nvPr/>
        </p:nvSpPr>
        <p:spPr>
          <a:xfrm>
            <a:off x="548640" y="2743200"/>
            <a:ext cx="5120640" cy="182880"/>
          </a:xfrm>
          <a:prstGeom prst="rect">
            <a:avLst/>
          </a:prstGeom>
          <a:noFill/>
        </p:spPr>
        <p:txBody>
          <a:bodyPr wrap="square">
            <a:spAutoFit/>
          </a:bodyPr>
          <a:lstStyle/>
          <a:p>
            <a:pPr algn="l">
              <a:defRPr sz="700" b="1">
                <a:solidFill>
                  <a:srgbClr val="6EE7B7"/>
                </a:solidFill>
                <a:latin typeface="Calibri"/>
              </a:defRPr>
            </a:pPr>
            <a:r>
              <a:t>STRENGTH:</a:t>
            </a:r>
          </a:p>
        </p:txBody>
      </p:sp>
      <p:sp>
        <p:nvSpPr>
          <p:cNvPr id="11" name="TextBox 10"/>
          <p:cNvSpPr txBox="1"/>
          <p:nvPr/>
        </p:nvSpPr>
        <p:spPr>
          <a:xfrm>
            <a:off x="1463040" y="2743200"/>
            <a:ext cx="4206240" cy="365760"/>
          </a:xfrm>
          <a:prstGeom prst="rect">
            <a:avLst/>
          </a:prstGeom>
          <a:noFill/>
        </p:spPr>
        <p:txBody>
          <a:bodyPr wrap="square">
            <a:spAutoFit/>
          </a:bodyPr>
          <a:lstStyle/>
          <a:p>
            <a:pPr algn="l">
              <a:defRPr sz="800" b="0">
                <a:solidFill>
                  <a:srgbClr val="94A3B8"/>
                </a:solidFill>
                <a:latin typeface="Calibri"/>
              </a:defRPr>
            </a:pPr>
            <a:r>
              <a:t>Perfectly suits our need to measure detection accuracy and produce reproducible results.</a:t>
            </a:r>
          </a:p>
        </p:txBody>
      </p:sp>
      <p:sp>
        <p:nvSpPr>
          <p:cNvPr id="12" name="TextBox 11"/>
          <p:cNvSpPr txBox="1"/>
          <p:nvPr/>
        </p:nvSpPr>
        <p:spPr>
          <a:xfrm>
            <a:off x="548640" y="3154680"/>
            <a:ext cx="5120640" cy="182880"/>
          </a:xfrm>
          <a:prstGeom prst="rect">
            <a:avLst/>
          </a:prstGeom>
          <a:noFill/>
        </p:spPr>
        <p:txBody>
          <a:bodyPr wrap="square">
            <a:spAutoFit/>
          </a:bodyPr>
          <a:lstStyle/>
          <a:p>
            <a:pPr algn="l">
              <a:defRPr sz="700" b="1">
                <a:solidFill>
                  <a:srgbClr val="EA580C"/>
                </a:solidFill>
                <a:latin typeface="Calibri"/>
              </a:defRPr>
            </a:pPr>
            <a:r>
              <a:t>LIMITATION:</a:t>
            </a:r>
          </a:p>
        </p:txBody>
      </p:sp>
      <p:sp>
        <p:nvSpPr>
          <p:cNvPr id="13" name="TextBox 12"/>
          <p:cNvSpPr txBox="1"/>
          <p:nvPr/>
        </p:nvSpPr>
        <p:spPr>
          <a:xfrm>
            <a:off x="1554480" y="3154680"/>
            <a:ext cx="4114800" cy="365760"/>
          </a:xfrm>
          <a:prstGeom prst="rect">
            <a:avLst/>
          </a:prstGeom>
          <a:noFill/>
        </p:spPr>
        <p:txBody>
          <a:bodyPr wrap="square">
            <a:spAutoFit/>
          </a:bodyPr>
          <a:lstStyle/>
          <a:p>
            <a:pPr algn="l">
              <a:defRPr sz="800" b="0">
                <a:solidFill>
                  <a:srgbClr val="94A3B8"/>
                </a:solidFill>
                <a:latin typeface="Calibri"/>
              </a:defRPr>
            </a:pPr>
            <a:r>
              <a:t>Cannot capture strategic reasoning of threat actors or contextual nuances.</a:t>
            </a:r>
          </a:p>
        </p:txBody>
      </p:sp>
      <p:sp>
        <p:nvSpPr>
          <p:cNvPr id="14" name="Rounded Rectangle 13"/>
          <p:cNvSpPr/>
          <p:nvPr/>
        </p:nvSpPr>
        <p:spPr>
          <a:xfrm>
            <a:off x="6217920" y="1783080"/>
            <a:ext cx="5577840" cy="219456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20240"/>
            <a:ext cx="5029200" cy="320040"/>
          </a:xfrm>
          <a:prstGeom prst="rect">
            <a:avLst/>
          </a:prstGeom>
          <a:noFill/>
        </p:spPr>
        <p:txBody>
          <a:bodyPr wrap="square">
            <a:spAutoFit/>
          </a:bodyPr>
          <a:lstStyle/>
          <a:p>
            <a:pPr algn="l">
              <a:defRPr sz="1200" b="1">
                <a:solidFill>
                  <a:srgbClr val="67E8F9"/>
                </a:solidFill>
                <a:latin typeface="Calibri"/>
              </a:defRPr>
            </a:pPr>
            <a:r>
              <a:t>Interpretivism</a:t>
            </a:r>
          </a:p>
        </p:txBody>
      </p:sp>
      <p:sp>
        <p:nvSpPr>
          <p:cNvPr id="16" name="TextBox 15"/>
          <p:cNvSpPr txBox="1"/>
          <p:nvPr/>
        </p:nvSpPr>
        <p:spPr>
          <a:xfrm>
            <a:off x="6400800" y="2240280"/>
            <a:ext cx="5120640" cy="502920"/>
          </a:xfrm>
          <a:prstGeom prst="rect">
            <a:avLst/>
          </a:prstGeom>
          <a:noFill/>
        </p:spPr>
        <p:txBody>
          <a:bodyPr wrap="square">
            <a:spAutoFit/>
          </a:bodyPr>
          <a:lstStyle/>
          <a:p>
            <a:pPr algn="l">
              <a:defRPr sz="900" b="0">
                <a:solidFill>
                  <a:srgbClr val="CBD5E1"/>
                </a:solidFill>
                <a:latin typeface="Calibri"/>
              </a:defRPr>
            </a:pPr>
            <a:r>
              <a:t>Knowledge constructed through subjective human experience. Emphasises meanings and context.</a:t>
            </a:r>
          </a:p>
        </p:txBody>
      </p:sp>
      <p:sp>
        <p:nvSpPr>
          <p:cNvPr id="17" name="TextBox 16"/>
          <p:cNvSpPr txBox="1"/>
          <p:nvPr/>
        </p:nvSpPr>
        <p:spPr>
          <a:xfrm>
            <a:off x="6400800" y="2743200"/>
            <a:ext cx="5120640" cy="182880"/>
          </a:xfrm>
          <a:prstGeom prst="rect">
            <a:avLst/>
          </a:prstGeom>
          <a:noFill/>
        </p:spPr>
        <p:txBody>
          <a:bodyPr wrap="square">
            <a:spAutoFit/>
          </a:bodyPr>
          <a:lstStyle/>
          <a:p>
            <a:pPr algn="l">
              <a:defRPr sz="700" b="1">
                <a:solidFill>
                  <a:srgbClr val="6EE7B7"/>
                </a:solidFill>
                <a:latin typeface="Calibri"/>
              </a:defRPr>
            </a:pPr>
            <a:r>
              <a:t>STRENGTH:</a:t>
            </a:r>
          </a:p>
        </p:txBody>
      </p:sp>
      <p:sp>
        <p:nvSpPr>
          <p:cNvPr id="18" name="TextBox 17"/>
          <p:cNvSpPr txBox="1"/>
          <p:nvPr/>
        </p:nvSpPr>
        <p:spPr>
          <a:xfrm>
            <a:off x="7315200" y="2743200"/>
            <a:ext cx="4206240" cy="365760"/>
          </a:xfrm>
          <a:prstGeom prst="rect">
            <a:avLst/>
          </a:prstGeom>
          <a:noFill/>
        </p:spPr>
        <p:txBody>
          <a:bodyPr wrap="square">
            <a:spAutoFit/>
          </a:bodyPr>
          <a:lstStyle/>
          <a:p>
            <a:pPr algn="l">
              <a:defRPr sz="800" b="0">
                <a:solidFill>
                  <a:srgbClr val="94A3B8"/>
                </a:solidFill>
                <a:latin typeface="Calibri"/>
              </a:defRPr>
            </a:pPr>
            <a:r>
              <a:t>Could explore how analysts interpret alerts or how culture affects incident response.</a:t>
            </a:r>
          </a:p>
        </p:txBody>
      </p:sp>
      <p:sp>
        <p:nvSpPr>
          <p:cNvPr id="19" name="TextBox 18"/>
          <p:cNvSpPr txBox="1"/>
          <p:nvPr/>
        </p:nvSpPr>
        <p:spPr>
          <a:xfrm>
            <a:off x="6400800" y="3154680"/>
            <a:ext cx="5120640" cy="182880"/>
          </a:xfrm>
          <a:prstGeom prst="rect">
            <a:avLst/>
          </a:prstGeom>
          <a:noFill/>
        </p:spPr>
        <p:txBody>
          <a:bodyPr wrap="square">
            <a:spAutoFit/>
          </a:bodyPr>
          <a:lstStyle/>
          <a:p>
            <a:pPr algn="l">
              <a:defRPr sz="700" b="1">
                <a:solidFill>
                  <a:srgbClr val="EA580C"/>
                </a:solidFill>
                <a:latin typeface="Calibri"/>
              </a:defRPr>
            </a:pPr>
            <a:r>
              <a:t>LIMITATION:</a:t>
            </a:r>
          </a:p>
        </p:txBody>
      </p:sp>
      <p:sp>
        <p:nvSpPr>
          <p:cNvPr id="20" name="TextBox 19"/>
          <p:cNvSpPr txBox="1"/>
          <p:nvPr/>
        </p:nvSpPr>
        <p:spPr>
          <a:xfrm>
            <a:off x="7406640" y="3154680"/>
            <a:ext cx="4114800" cy="365760"/>
          </a:xfrm>
          <a:prstGeom prst="rect">
            <a:avLst/>
          </a:prstGeom>
          <a:noFill/>
        </p:spPr>
        <p:txBody>
          <a:bodyPr wrap="square">
            <a:spAutoFit/>
          </a:bodyPr>
          <a:lstStyle/>
          <a:p>
            <a:pPr algn="l">
              <a:defRPr sz="800" b="0">
                <a:solidFill>
                  <a:srgbClr val="94A3B8"/>
                </a:solidFill>
                <a:latin typeface="Calibri"/>
              </a:defRPr>
            </a:pPr>
            <a:r>
              <a:t>Our question is about AI system effectiveness, not human perceptions.</a:t>
            </a:r>
          </a:p>
        </p:txBody>
      </p:sp>
      <p:sp>
        <p:nvSpPr>
          <p:cNvPr id="21" name="Rounded Rectangle 20"/>
          <p:cNvSpPr/>
          <p:nvPr/>
        </p:nvSpPr>
        <p:spPr>
          <a:xfrm>
            <a:off x="365760" y="4160520"/>
            <a:ext cx="5577840" cy="2194560"/>
          </a:xfrm>
          <a:prstGeom prst="roundRect">
            <a:avLst/>
          </a:prstGeom>
          <a:solidFill>
            <a:srgbClr val="1A2332"/>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297680"/>
            <a:ext cx="5029200" cy="320040"/>
          </a:xfrm>
          <a:prstGeom prst="rect">
            <a:avLst/>
          </a:prstGeom>
          <a:noFill/>
        </p:spPr>
        <p:txBody>
          <a:bodyPr wrap="square">
            <a:spAutoFit/>
          </a:bodyPr>
          <a:lstStyle/>
          <a:p>
            <a:pPr algn="l">
              <a:defRPr sz="1200" b="1">
                <a:solidFill>
                  <a:srgbClr val="C4B5FD"/>
                </a:solidFill>
                <a:latin typeface="Calibri"/>
              </a:defRPr>
            </a:pPr>
            <a:r>
              <a:t>Pragmatism</a:t>
            </a:r>
          </a:p>
        </p:txBody>
      </p:sp>
      <p:sp>
        <p:nvSpPr>
          <p:cNvPr id="23" name="TextBox 22"/>
          <p:cNvSpPr txBox="1"/>
          <p:nvPr/>
        </p:nvSpPr>
        <p:spPr>
          <a:xfrm>
            <a:off x="548640" y="4617720"/>
            <a:ext cx="5120640" cy="502920"/>
          </a:xfrm>
          <a:prstGeom prst="rect">
            <a:avLst/>
          </a:prstGeom>
          <a:noFill/>
        </p:spPr>
        <p:txBody>
          <a:bodyPr wrap="square">
            <a:spAutoFit/>
          </a:bodyPr>
          <a:lstStyle/>
          <a:p>
            <a:pPr algn="l">
              <a:defRPr sz="900" b="0">
                <a:solidFill>
                  <a:srgbClr val="CBD5E1"/>
                </a:solidFill>
                <a:latin typeface="Calibri"/>
              </a:defRPr>
            </a:pPr>
            <a:r>
              <a:t>Value of knowledge depends on practical usefulness. Supports mixing methods.</a:t>
            </a:r>
          </a:p>
        </p:txBody>
      </p:sp>
      <p:sp>
        <p:nvSpPr>
          <p:cNvPr id="24" name="TextBox 23"/>
          <p:cNvSpPr txBox="1"/>
          <p:nvPr/>
        </p:nvSpPr>
        <p:spPr>
          <a:xfrm>
            <a:off x="548640" y="5120640"/>
            <a:ext cx="5120640" cy="182880"/>
          </a:xfrm>
          <a:prstGeom prst="rect">
            <a:avLst/>
          </a:prstGeom>
          <a:noFill/>
        </p:spPr>
        <p:txBody>
          <a:bodyPr wrap="square">
            <a:spAutoFit/>
          </a:bodyPr>
          <a:lstStyle/>
          <a:p>
            <a:pPr algn="l">
              <a:defRPr sz="700" b="1">
                <a:solidFill>
                  <a:srgbClr val="6EE7B7"/>
                </a:solidFill>
                <a:latin typeface="Calibri"/>
              </a:defRPr>
            </a:pPr>
            <a:r>
              <a:t>STRENGTH:</a:t>
            </a:r>
          </a:p>
        </p:txBody>
      </p:sp>
      <p:sp>
        <p:nvSpPr>
          <p:cNvPr id="25" name="TextBox 24"/>
          <p:cNvSpPr txBox="1"/>
          <p:nvPr/>
        </p:nvSpPr>
        <p:spPr>
          <a:xfrm>
            <a:off x="1463040" y="5120640"/>
            <a:ext cx="4206240" cy="365760"/>
          </a:xfrm>
          <a:prstGeom prst="rect">
            <a:avLst/>
          </a:prstGeom>
          <a:noFill/>
        </p:spPr>
        <p:txBody>
          <a:bodyPr wrap="square">
            <a:spAutoFit/>
          </a:bodyPr>
          <a:lstStyle/>
          <a:p>
            <a:pPr algn="l">
              <a:defRPr sz="800" b="0">
                <a:solidFill>
                  <a:srgbClr val="94A3B8"/>
                </a:solidFill>
                <a:latin typeface="Calibri"/>
              </a:defRPr>
            </a:pPr>
            <a:r>
              <a:t>Allows flexibility to combine quantitative experiments with expert feedback.</a:t>
            </a:r>
          </a:p>
        </p:txBody>
      </p:sp>
      <p:sp>
        <p:nvSpPr>
          <p:cNvPr id="26" name="TextBox 25"/>
          <p:cNvSpPr txBox="1"/>
          <p:nvPr/>
        </p:nvSpPr>
        <p:spPr>
          <a:xfrm>
            <a:off x="548640" y="5532120"/>
            <a:ext cx="5120640" cy="182880"/>
          </a:xfrm>
          <a:prstGeom prst="rect">
            <a:avLst/>
          </a:prstGeom>
          <a:noFill/>
        </p:spPr>
        <p:txBody>
          <a:bodyPr wrap="square">
            <a:spAutoFit/>
          </a:bodyPr>
          <a:lstStyle/>
          <a:p>
            <a:pPr algn="l">
              <a:defRPr sz="700" b="1">
                <a:solidFill>
                  <a:srgbClr val="EA580C"/>
                </a:solidFill>
                <a:latin typeface="Calibri"/>
              </a:defRPr>
            </a:pPr>
            <a:r>
              <a:t>LIMITATION:</a:t>
            </a:r>
          </a:p>
        </p:txBody>
      </p:sp>
      <p:sp>
        <p:nvSpPr>
          <p:cNvPr id="27" name="TextBox 26"/>
          <p:cNvSpPr txBox="1"/>
          <p:nvPr/>
        </p:nvSpPr>
        <p:spPr>
          <a:xfrm>
            <a:off x="1554480" y="5532120"/>
            <a:ext cx="4114800" cy="365760"/>
          </a:xfrm>
          <a:prstGeom prst="rect">
            <a:avLst/>
          </a:prstGeom>
          <a:noFill/>
        </p:spPr>
        <p:txBody>
          <a:bodyPr wrap="square">
            <a:spAutoFit/>
          </a:bodyPr>
          <a:lstStyle/>
          <a:p>
            <a:pPr algn="l">
              <a:defRPr sz="800" b="0">
                <a:solidFill>
                  <a:srgbClr val="94A3B8"/>
                </a:solidFill>
                <a:latin typeface="Calibri"/>
              </a:defRPr>
            </a:pPr>
            <a:r>
              <a:t>Additional qualitative layer adds complexity without proportionate benefit.</a:t>
            </a:r>
          </a:p>
        </p:txBody>
      </p:sp>
      <p:sp>
        <p:nvSpPr>
          <p:cNvPr id="28" name="Rounded Rectangle 27"/>
          <p:cNvSpPr/>
          <p:nvPr/>
        </p:nvSpPr>
        <p:spPr>
          <a:xfrm>
            <a:off x="6217920" y="4160520"/>
            <a:ext cx="5577840" cy="2194560"/>
          </a:xfrm>
          <a:prstGeom prst="roundRect">
            <a:avLst/>
          </a:prstGeom>
          <a:solidFill>
            <a:srgbClr val="1A233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297680"/>
            <a:ext cx="5029200" cy="320040"/>
          </a:xfrm>
          <a:prstGeom prst="rect">
            <a:avLst/>
          </a:prstGeom>
          <a:noFill/>
        </p:spPr>
        <p:txBody>
          <a:bodyPr wrap="square">
            <a:spAutoFit/>
          </a:bodyPr>
          <a:lstStyle/>
          <a:p>
            <a:pPr algn="l">
              <a:defRPr sz="1200" b="1">
                <a:solidFill>
                  <a:srgbClr val="6EE7B7"/>
                </a:solidFill>
                <a:latin typeface="Calibri"/>
              </a:defRPr>
            </a:pPr>
            <a:r>
              <a:t>Realism</a:t>
            </a:r>
          </a:p>
        </p:txBody>
      </p:sp>
      <p:sp>
        <p:nvSpPr>
          <p:cNvPr id="30" name="TextBox 29"/>
          <p:cNvSpPr txBox="1"/>
          <p:nvPr/>
        </p:nvSpPr>
        <p:spPr>
          <a:xfrm>
            <a:off x="6400800" y="4617720"/>
            <a:ext cx="5120640" cy="502920"/>
          </a:xfrm>
          <a:prstGeom prst="rect">
            <a:avLst/>
          </a:prstGeom>
          <a:noFill/>
        </p:spPr>
        <p:txBody>
          <a:bodyPr wrap="square">
            <a:spAutoFit/>
          </a:bodyPr>
          <a:lstStyle/>
          <a:p>
            <a:pPr algn="l">
              <a:defRPr sz="900" b="0">
                <a:solidFill>
                  <a:srgbClr val="CBD5E1"/>
                </a:solidFill>
                <a:latin typeface="Calibri"/>
              </a:defRPr>
            </a:pPr>
            <a:r>
              <a:t>Objective reality exists independently but we can only partially access it.</a:t>
            </a:r>
          </a:p>
        </p:txBody>
      </p:sp>
      <p:sp>
        <p:nvSpPr>
          <p:cNvPr id="31" name="TextBox 30"/>
          <p:cNvSpPr txBox="1"/>
          <p:nvPr/>
        </p:nvSpPr>
        <p:spPr>
          <a:xfrm>
            <a:off x="6400800" y="5120640"/>
            <a:ext cx="5120640" cy="182880"/>
          </a:xfrm>
          <a:prstGeom prst="rect">
            <a:avLst/>
          </a:prstGeom>
          <a:noFill/>
        </p:spPr>
        <p:txBody>
          <a:bodyPr wrap="square">
            <a:spAutoFit/>
          </a:bodyPr>
          <a:lstStyle/>
          <a:p>
            <a:pPr algn="l">
              <a:defRPr sz="700" b="1">
                <a:solidFill>
                  <a:srgbClr val="6EE7B7"/>
                </a:solidFill>
                <a:latin typeface="Calibri"/>
              </a:defRPr>
            </a:pPr>
            <a:r>
              <a:t>STRENGTH:</a:t>
            </a:r>
          </a:p>
        </p:txBody>
      </p:sp>
      <p:sp>
        <p:nvSpPr>
          <p:cNvPr id="32" name="TextBox 31"/>
          <p:cNvSpPr txBox="1"/>
          <p:nvPr/>
        </p:nvSpPr>
        <p:spPr>
          <a:xfrm>
            <a:off x="7315200" y="5120640"/>
            <a:ext cx="4206240" cy="365760"/>
          </a:xfrm>
          <a:prstGeom prst="rect">
            <a:avLst/>
          </a:prstGeom>
          <a:noFill/>
        </p:spPr>
        <p:txBody>
          <a:bodyPr wrap="square">
            <a:spAutoFit/>
          </a:bodyPr>
          <a:lstStyle/>
          <a:p>
            <a:pPr algn="l">
              <a:defRPr sz="800" b="0">
                <a:solidFill>
                  <a:srgbClr val="94A3B8"/>
                </a:solidFill>
                <a:latin typeface="Calibri"/>
              </a:defRPr>
            </a:pPr>
            <a:r>
              <a:t>Recognises that APT behaviour has underlying causal structures.</a:t>
            </a:r>
          </a:p>
        </p:txBody>
      </p:sp>
      <p:sp>
        <p:nvSpPr>
          <p:cNvPr id="33" name="TextBox 32"/>
          <p:cNvSpPr txBox="1"/>
          <p:nvPr/>
        </p:nvSpPr>
        <p:spPr>
          <a:xfrm>
            <a:off x="6400800" y="5532120"/>
            <a:ext cx="5120640" cy="182880"/>
          </a:xfrm>
          <a:prstGeom prst="rect">
            <a:avLst/>
          </a:prstGeom>
          <a:noFill/>
        </p:spPr>
        <p:txBody>
          <a:bodyPr wrap="square">
            <a:spAutoFit/>
          </a:bodyPr>
          <a:lstStyle/>
          <a:p>
            <a:pPr algn="l">
              <a:defRPr sz="700" b="1">
                <a:solidFill>
                  <a:srgbClr val="EA580C"/>
                </a:solidFill>
                <a:latin typeface="Calibri"/>
              </a:defRPr>
            </a:pPr>
            <a:r>
              <a:t>LIMITATION:</a:t>
            </a:r>
          </a:p>
        </p:txBody>
      </p:sp>
      <p:sp>
        <p:nvSpPr>
          <p:cNvPr id="34" name="TextBox 33"/>
          <p:cNvSpPr txBox="1"/>
          <p:nvPr/>
        </p:nvSpPr>
        <p:spPr>
          <a:xfrm>
            <a:off x="7406640" y="5532120"/>
            <a:ext cx="4114800" cy="365760"/>
          </a:xfrm>
          <a:prstGeom prst="rect">
            <a:avLst/>
          </a:prstGeom>
          <a:noFill/>
        </p:spPr>
        <p:txBody>
          <a:bodyPr wrap="square">
            <a:spAutoFit/>
          </a:bodyPr>
          <a:lstStyle/>
          <a:p>
            <a:pPr algn="l">
              <a:defRPr sz="800" b="0">
                <a:solidFill>
                  <a:srgbClr val="94A3B8"/>
                </a:solidFill>
                <a:latin typeface="Calibri"/>
              </a:defRPr>
            </a:pPr>
            <a:r>
              <a:t>More suited to explanatory social research than computational benchmarking.</a:t>
            </a:r>
          </a:p>
        </p:txBody>
      </p:sp>
      <p:sp>
        <p:nvSpPr>
          <p:cNvPr id="35" name="Rounded Rectangle 34"/>
          <p:cNvSpPr/>
          <p:nvPr/>
        </p:nvSpPr>
        <p:spPr>
          <a:xfrm>
            <a:off x="365760" y="6400800"/>
            <a:ext cx="11430000" cy="0"/>
          </a:xfrm>
          <a:prstGeom prst="roundRect">
            <a:avLst/>
          </a:prstGeom>
          <a:solidFill>
            <a:srgbClr val="1A2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02 / 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3B82F6">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3657600" cy="274320"/>
          </a:xfrm>
          <a:prstGeom prst="rect">
            <a:avLst/>
          </a:prstGeom>
          <a:noFill/>
        </p:spPr>
        <p:txBody>
          <a:bodyPr wrap="square">
            <a:spAutoFit/>
          </a:bodyPr>
          <a:lstStyle/>
          <a:p>
            <a:pPr algn="l">
              <a:defRPr sz="900" b="1">
                <a:solidFill>
                  <a:srgbClr val="6EE7B7"/>
                </a:solidFill>
                <a:latin typeface="Calibri"/>
              </a:defRPr>
            </a:pPr>
            <a:r>
              <a:t>METHODOLOGY SELECTION</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8FAFC"/>
                </a:solidFill>
                <a:latin typeface="Calibri"/>
              </a:defRPr>
            </a:pPr>
            <a:r>
              <a:t>Quantitative Methodology: The Natural Choice</a:t>
            </a:r>
          </a:p>
        </p:txBody>
      </p:sp>
      <p:sp>
        <p:nvSpPr>
          <p:cNvPr id="6" name="TextBox 5"/>
          <p:cNvSpPr txBox="1"/>
          <p:nvPr/>
        </p:nvSpPr>
        <p:spPr>
          <a:xfrm>
            <a:off x="548640" y="1325880"/>
            <a:ext cx="9144000" cy="365760"/>
          </a:xfrm>
          <a:prstGeom prst="rect">
            <a:avLst/>
          </a:prstGeom>
          <a:noFill/>
        </p:spPr>
        <p:txBody>
          <a:bodyPr wrap="square">
            <a:spAutoFit/>
          </a:bodyPr>
          <a:lstStyle/>
          <a:p>
            <a:pPr algn="l">
              <a:defRPr sz="1100" b="0">
                <a:solidFill>
                  <a:srgbClr val="94A3B8"/>
                </a:solidFill>
                <a:latin typeface="Calibri"/>
              </a:defRPr>
            </a:pPr>
            <a:r>
              <a:t>Given our positivist stance, a quantitative methodology is the most appropriate path forward.</a:t>
            </a:r>
          </a:p>
        </p:txBody>
      </p:sp>
      <p:sp>
        <p:nvSpPr>
          <p:cNvPr id="7" name="Rounded Rectangle 6"/>
          <p:cNvSpPr/>
          <p:nvPr/>
        </p:nvSpPr>
        <p:spPr>
          <a:xfrm>
            <a:off x="365760" y="1828800"/>
            <a:ext cx="3566160" cy="1828800"/>
          </a:xfrm>
          <a:prstGeom prst="roundRect">
            <a:avLst/>
          </a:prstGeom>
          <a:solidFill>
            <a:srgbClr val="1A2332"/>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3200400" cy="320040"/>
          </a:xfrm>
          <a:prstGeom prst="rect">
            <a:avLst/>
          </a:prstGeom>
          <a:noFill/>
        </p:spPr>
        <p:txBody>
          <a:bodyPr wrap="square">
            <a:spAutoFit/>
          </a:bodyPr>
          <a:lstStyle/>
          <a:p>
            <a:pPr algn="l">
              <a:defRPr sz="1100" b="1">
                <a:solidFill>
                  <a:srgbClr val="C4B5FD"/>
                </a:solidFill>
                <a:latin typeface="Calibri"/>
              </a:defRPr>
            </a:pPr>
            <a:r>
              <a:t>Qualitative</a:t>
            </a:r>
          </a:p>
        </p:txBody>
      </p:sp>
      <p:sp>
        <p:nvSpPr>
          <p:cNvPr id="9" name="TextBox 8"/>
          <p:cNvSpPr txBox="1"/>
          <p:nvPr/>
        </p:nvSpPr>
        <p:spPr>
          <a:xfrm>
            <a:off x="548640" y="2331720"/>
            <a:ext cx="3200400" cy="457200"/>
          </a:xfrm>
          <a:prstGeom prst="rect">
            <a:avLst/>
          </a:prstGeom>
          <a:noFill/>
        </p:spPr>
        <p:txBody>
          <a:bodyPr wrap="square">
            <a:spAutoFit/>
          </a:bodyPr>
          <a:lstStyle/>
          <a:p>
            <a:pPr algn="l">
              <a:defRPr sz="900" b="0">
                <a:solidFill>
                  <a:srgbClr val="CBD5E1"/>
                </a:solidFill>
                <a:latin typeface="Calibri"/>
              </a:defRPr>
            </a:pPr>
            <a:r>
              <a:t>Explores meanings through interviews and observations.</a:t>
            </a:r>
          </a:p>
        </p:txBody>
      </p:sp>
      <p:sp>
        <p:nvSpPr>
          <p:cNvPr id="10" name="TextBox 9"/>
          <p:cNvSpPr txBox="1"/>
          <p:nvPr/>
        </p:nvSpPr>
        <p:spPr>
          <a:xfrm>
            <a:off x="548640" y="2834640"/>
            <a:ext cx="3200400" cy="548640"/>
          </a:xfrm>
          <a:prstGeom prst="rect">
            <a:avLst/>
          </a:prstGeom>
          <a:noFill/>
        </p:spPr>
        <p:txBody>
          <a:bodyPr wrap="square">
            <a:spAutoFit/>
          </a:bodyPr>
          <a:lstStyle/>
          <a:p>
            <a:pPr algn="l">
              <a:defRPr sz="900" b="1">
                <a:solidFill>
                  <a:srgbClr val="EA580C"/>
                </a:solidFill>
                <a:latin typeface="Calibri"/>
              </a:defRPr>
            </a:pPr>
            <a:r>
              <a:t>Not suitable - Our research produces numerical outputs, not human perceptions.</a:t>
            </a:r>
          </a:p>
        </p:txBody>
      </p:sp>
      <p:sp>
        <p:nvSpPr>
          <p:cNvPr id="11" name="Rounded Rectangle 10"/>
          <p:cNvSpPr/>
          <p:nvPr/>
        </p:nvSpPr>
        <p:spPr>
          <a:xfrm>
            <a:off x="4206240" y="1828800"/>
            <a:ext cx="3566160" cy="182880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965960"/>
            <a:ext cx="3200400" cy="320040"/>
          </a:xfrm>
          <a:prstGeom prst="rect">
            <a:avLst/>
          </a:prstGeom>
          <a:noFill/>
        </p:spPr>
        <p:txBody>
          <a:bodyPr wrap="square">
            <a:spAutoFit/>
          </a:bodyPr>
          <a:lstStyle/>
          <a:p>
            <a:pPr algn="l">
              <a:defRPr sz="1100" b="1">
                <a:solidFill>
                  <a:srgbClr val="93C5FD"/>
                </a:solidFill>
                <a:latin typeface="Calibri"/>
              </a:defRPr>
            </a:pPr>
            <a:r>
              <a:t>Quantitative  [SELECTED]</a:t>
            </a:r>
          </a:p>
        </p:txBody>
      </p:sp>
      <p:sp>
        <p:nvSpPr>
          <p:cNvPr id="13" name="TextBox 12"/>
          <p:cNvSpPr txBox="1"/>
          <p:nvPr/>
        </p:nvSpPr>
        <p:spPr>
          <a:xfrm>
            <a:off x="4389120" y="2331720"/>
            <a:ext cx="3200400" cy="457200"/>
          </a:xfrm>
          <a:prstGeom prst="rect">
            <a:avLst/>
          </a:prstGeom>
          <a:noFill/>
        </p:spPr>
        <p:txBody>
          <a:bodyPr wrap="square">
            <a:spAutoFit/>
          </a:bodyPr>
          <a:lstStyle/>
          <a:p>
            <a:pPr algn="l">
              <a:defRPr sz="900" b="0">
                <a:solidFill>
                  <a:srgbClr val="CBD5E1"/>
                </a:solidFill>
                <a:latin typeface="Calibri"/>
              </a:defRPr>
            </a:pPr>
            <a:r>
              <a:t>Relies on measurable data, statistics, and experiments.</a:t>
            </a:r>
          </a:p>
        </p:txBody>
      </p:sp>
      <p:sp>
        <p:nvSpPr>
          <p:cNvPr id="14" name="TextBox 13"/>
          <p:cNvSpPr txBox="1"/>
          <p:nvPr/>
        </p:nvSpPr>
        <p:spPr>
          <a:xfrm>
            <a:off x="4389120" y="2834640"/>
            <a:ext cx="3200400" cy="548640"/>
          </a:xfrm>
          <a:prstGeom prst="rect">
            <a:avLst/>
          </a:prstGeom>
          <a:noFill/>
        </p:spPr>
        <p:txBody>
          <a:bodyPr wrap="square">
            <a:spAutoFit/>
          </a:bodyPr>
          <a:lstStyle/>
          <a:p>
            <a:pPr algn="l">
              <a:defRPr sz="900" b="1">
                <a:solidFill>
                  <a:srgbClr val="6EE7B7"/>
                </a:solidFill>
                <a:latin typeface="Calibri"/>
              </a:defRPr>
            </a:pPr>
            <a:r>
              <a:t>Perfect fit - Everything is quantifiable: detection rates, accuracy, processing times.</a:t>
            </a:r>
          </a:p>
        </p:txBody>
      </p:sp>
      <p:sp>
        <p:nvSpPr>
          <p:cNvPr id="15" name="Rounded Rectangle 14"/>
          <p:cNvSpPr/>
          <p:nvPr/>
        </p:nvSpPr>
        <p:spPr>
          <a:xfrm>
            <a:off x="8046720" y="1828800"/>
            <a:ext cx="3566160" cy="1828800"/>
          </a:xfrm>
          <a:prstGeom prst="roundRect">
            <a:avLst/>
          </a:prstGeom>
          <a:solidFill>
            <a:srgbClr val="1A2332"/>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965960"/>
            <a:ext cx="3200400" cy="320040"/>
          </a:xfrm>
          <a:prstGeom prst="rect">
            <a:avLst/>
          </a:prstGeom>
          <a:noFill/>
        </p:spPr>
        <p:txBody>
          <a:bodyPr wrap="square">
            <a:spAutoFit/>
          </a:bodyPr>
          <a:lstStyle/>
          <a:p>
            <a:pPr algn="l">
              <a:defRPr sz="1100" b="1">
                <a:solidFill>
                  <a:srgbClr val="67E8F9"/>
                </a:solidFill>
                <a:latin typeface="Calibri"/>
              </a:defRPr>
            </a:pPr>
            <a:r>
              <a:t>Mixed Methods</a:t>
            </a:r>
          </a:p>
        </p:txBody>
      </p:sp>
      <p:sp>
        <p:nvSpPr>
          <p:cNvPr id="17" name="TextBox 16"/>
          <p:cNvSpPr txBox="1"/>
          <p:nvPr/>
        </p:nvSpPr>
        <p:spPr>
          <a:xfrm>
            <a:off x="8229600" y="2331720"/>
            <a:ext cx="3200400" cy="457200"/>
          </a:xfrm>
          <a:prstGeom prst="rect">
            <a:avLst/>
          </a:prstGeom>
          <a:noFill/>
        </p:spPr>
        <p:txBody>
          <a:bodyPr wrap="square">
            <a:spAutoFit/>
          </a:bodyPr>
          <a:lstStyle/>
          <a:p>
            <a:pPr algn="l">
              <a:defRPr sz="900" b="0">
                <a:solidFill>
                  <a:srgbClr val="CBD5E1"/>
                </a:solidFill>
                <a:latin typeface="Calibri"/>
              </a:defRPr>
            </a:pPr>
            <a:r>
              <a:t>Combines quantitative and qualitative approaches.</a:t>
            </a:r>
          </a:p>
        </p:txBody>
      </p:sp>
      <p:sp>
        <p:nvSpPr>
          <p:cNvPr id="18" name="TextBox 17"/>
          <p:cNvSpPr txBox="1"/>
          <p:nvPr/>
        </p:nvSpPr>
        <p:spPr>
          <a:xfrm>
            <a:off x="8229600" y="2834640"/>
            <a:ext cx="3200400" cy="548640"/>
          </a:xfrm>
          <a:prstGeom prst="rect">
            <a:avLst/>
          </a:prstGeom>
          <a:noFill/>
        </p:spPr>
        <p:txBody>
          <a:bodyPr wrap="square">
            <a:spAutoFit/>
          </a:bodyPr>
          <a:lstStyle/>
          <a:p>
            <a:pPr algn="l">
              <a:defRPr sz="900" b="1">
                <a:solidFill>
                  <a:srgbClr val="EA580C"/>
                </a:solidFill>
                <a:latin typeface="Calibri"/>
              </a:defRPr>
            </a:pPr>
            <a:r>
              <a:t>Unnecessary - Adds complexity without proportional gain for our questions.</a:t>
            </a:r>
          </a:p>
        </p:txBody>
      </p:sp>
      <p:sp>
        <p:nvSpPr>
          <p:cNvPr id="19" name="Rounded Rectangle 18"/>
          <p:cNvSpPr/>
          <p:nvPr/>
        </p:nvSpPr>
        <p:spPr>
          <a:xfrm>
            <a:off x="365760" y="3840480"/>
            <a:ext cx="5669280" cy="274320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23360"/>
            <a:ext cx="5029200" cy="320040"/>
          </a:xfrm>
          <a:prstGeom prst="rect">
            <a:avLst/>
          </a:prstGeom>
          <a:noFill/>
        </p:spPr>
        <p:txBody>
          <a:bodyPr wrap="square">
            <a:spAutoFit/>
          </a:bodyPr>
          <a:lstStyle/>
          <a:p>
            <a:pPr algn="l">
              <a:defRPr sz="1200" b="1">
                <a:solidFill>
                  <a:srgbClr val="93C5FD"/>
                </a:solidFill>
                <a:latin typeface="Calibri"/>
              </a:defRPr>
            </a:pPr>
            <a:r>
              <a:t>Why Quantitative Works for Us</a:t>
            </a:r>
          </a:p>
        </p:txBody>
      </p:sp>
      <p:sp>
        <p:nvSpPr>
          <p:cNvPr id="21" name="TextBox 20"/>
          <p:cNvSpPr txBox="1"/>
          <p:nvPr/>
        </p:nvSpPr>
        <p:spPr>
          <a:xfrm>
            <a:off x="822960" y="4480560"/>
            <a:ext cx="5029200" cy="411480"/>
          </a:xfrm>
          <a:prstGeom prst="rect">
            <a:avLst/>
          </a:prstGeom>
          <a:noFill/>
        </p:spPr>
        <p:txBody>
          <a:bodyPr wrap="square">
            <a:spAutoFit/>
          </a:bodyPr>
          <a:lstStyle/>
          <a:p>
            <a:pPr algn="l">
              <a:defRPr sz="1000" b="0">
                <a:solidFill>
                  <a:srgbClr val="94A3B8"/>
                </a:solidFill>
                <a:latin typeface="Calibri"/>
              </a:defRPr>
            </a:pPr>
            <a:r>
              <a:t>  We train ML models on numerical datasets with millions of network flows</a:t>
            </a:r>
          </a:p>
        </p:txBody>
      </p:sp>
      <p:sp>
        <p:nvSpPr>
          <p:cNvPr id="22" name="TextBox 21"/>
          <p:cNvSpPr txBox="1"/>
          <p:nvPr/>
        </p:nvSpPr>
        <p:spPr>
          <a:xfrm>
            <a:off x="822960" y="4937760"/>
            <a:ext cx="5029200" cy="411480"/>
          </a:xfrm>
          <a:prstGeom prst="rect">
            <a:avLst/>
          </a:prstGeom>
          <a:noFill/>
        </p:spPr>
        <p:txBody>
          <a:bodyPr wrap="square">
            <a:spAutoFit/>
          </a:bodyPr>
          <a:lstStyle/>
          <a:p>
            <a:pPr algn="l">
              <a:defRPr sz="1000" b="0">
                <a:solidFill>
                  <a:srgbClr val="94A3B8"/>
                </a:solidFill>
                <a:latin typeface="Calibri"/>
              </a:defRPr>
            </a:pPr>
            <a:r>
              <a:t>  Success is measured through concrete metrics - accuracy, precision, recall, F1</a:t>
            </a:r>
          </a:p>
        </p:txBody>
      </p:sp>
      <p:sp>
        <p:nvSpPr>
          <p:cNvPr id="23" name="TextBox 22"/>
          <p:cNvSpPr txBox="1"/>
          <p:nvPr/>
        </p:nvSpPr>
        <p:spPr>
          <a:xfrm>
            <a:off x="822960" y="5394960"/>
            <a:ext cx="5029200" cy="411480"/>
          </a:xfrm>
          <a:prstGeom prst="rect">
            <a:avLst/>
          </a:prstGeom>
          <a:noFill/>
        </p:spPr>
        <p:txBody>
          <a:bodyPr wrap="square">
            <a:spAutoFit/>
          </a:bodyPr>
          <a:lstStyle/>
          <a:p>
            <a:pPr algn="l">
              <a:defRPr sz="1000" b="0">
                <a:solidFill>
                  <a:srgbClr val="94A3B8"/>
                </a:solidFill>
                <a:latin typeface="Calibri"/>
              </a:defRPr>
            </a:pPr>
            <a:r>
              <a:t>  We use controlled experiments with training/testing splits and cross-validation</a:t>
            </a:r>
          </a:p>
        </p:txBody>
      </p:sp>
      <p:sp>
        <p:nvSpPr>
          <p:cNvPr id="24" name="TextBox 23"/>
          <p:cNvSpPr txBox="1"/>
          <p:nvPr/>
        </p:nvSpPr>
        <p:spPr>
          <a:xfrm>
            <a:off x="822960" y="5852160"/>
            <a:ext cx="5029200" cy="411480"/>
          </a:xfrm>
          <a:prstGeom prst="rect">
            <a:avLst/>
          </a:prstGeom>
          <a:noFill/>
        </p:spPr>
        <p:txBody>
          <a:bodyPr wrap="square">
            <a:spAutoFit/>
          </a:bodyPr>
          <a:lstStyle/>
          <a:p>
            <a:pPr algn="l">
              <a:defRPr sz="1000" b="0">
                <a:solidFill>
                  <a:srgbClr val="94A3B8"/>
                </a:solidFill>
                <a:latin typeface="Calibri"/>
              </a:defRPr>
            </a:pPr>
            <a:r>
              <a:t>  Conclusions rest on statistical significance tests, not subjective judgement</a:t>
            </a:r>
          </a:p>
        </p:txBody>
      </p:sp>
      <p:sp>
        <p:nvSpPr>
          <p:cNvPr id="25" name="Rounded Rectangle 24"/>
          <p:cNvSpPr/>
          <p:nvPr/>
        </p:nvSpPr>
        <p:spPr>
          <a:xfrm>
            <a:off x="6309360" y="3840480"/>
            <a:ext cx="5303520" cy="2743200"/>
          </a:xfrm>
          <a:prstGeom prst="roundRect">
            <a:avLst/>
          </a:prstGeom>
          <a:solidFill>
            <a:srgbClr val="1A233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4023360"/>
            <a:ext cx="4754880" cy="320040"/>
          </a:xfrm>
          <a:prstGeom prst="rect">
            <a:avLst/>
          </a:prstGeom>
          <a:noFill/>
        </p:spPr>
        <p:txBody>
          <a:bodyPr wrap="square">
            <a:spAutoFit/>
          </a:bodyPr>
          <a:lstStyle/>
          <a:p>
            <a:pPr algn="l">
              <a:defRPr sz="1200" b="1">
                <a:solidFill>
                  <a:srgbClr val="6EE7B7"/>
                </a:solidFill>
                <a:latin typeface="Calibri"/>
              </a:defRPr>
            </a:pPr>
            <a:r>
              <a:t>Appropriateness of Research Methods</a:t>
            </a:r>
          </a:p>
        </p:txBody>
      </p:sp>
      <p:sp>
        <p:nvSpPr>
          <p:cNvPr id="27" name="Rounded Rectangle 26"/>
          <p:cNvSpPr/>
          <p:nvPr/>
        </p:nvSpPr>
        <p:spPr>
          <a:xfrm>
            <a:off x="6400800" y="4434840"/>
            <a:ext cx="5029200" cy="320040"/>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462272"/>
            <a:ext cx="2011680" cy="274320"/>
          </a:xfrm>
          <a:prstGeom prst="rect">
            <a:avLst/>
          </a:prstGeom>
          <a:noFill/>
        </p:spPr>
        <p:txBody>
          <a:bodyPr wrap="square">
            <a:spAutoFit/>
          </a:bodyPr>
          <a:lstStyle/>
          <a:p>
            <a:pPr algn="l">
              <a:defRPr sz="800" b="1">
                <a:solidFill>
                  <a:srgbClr val="93C5FD"/>
                </a:solidFill>
                <a:latin typeface="Calibri"/>
              </a:defRPr>
            </a:pPr>
            <a:r>
              <a:t>Method</a:t>
            </a:r>
          </a:p>
        </p:txBody>
      </p:sp>
      <p:sp>
        <p:nvSpPr>
          <p:cNvPr id="29" name="TextBox 28"/>
          <p:cNvSpPr txBox="1"/>
          <p:nvPr/>
        </p:nvSpPr>
        <p:spPr>
          <a:xfrm>
            <a:off x="8503920" y="4462272"/>
            <a:ext cx="2743200" cy="274320"/>
          </a:xfrm>
          <a:prstGeom prst="rect">
            <a:avLst/>
          </a:prstGeom>
          <a:noFill/>
        </p:spPr>
        <p:txBody>
          <a:bodyPr wrap="square">
            <a:spAutoFit/>
          </a:bodyPr>
          <a:lstStyle/>
          <a:p>
            <a:pPr algn="l">
              <a:defRPr sz="800" b="1">
                <a:solidFill>
                  <a:srgbClr val="93C5FD"/>
                </a:solidFill>
                <a:latin typeface="Calibri"/>
              </a:defRPr>
            </a:pPr>
            <a:r>
              <a:t>Role in Our Study</a:t>
            </a:r>
          </a:p>
        </p:txBody>
      </p:sp>
      <p:sp>
        <p:nvSpPr>
          <p:cNvPr id="30" name="TextBox 29"/>
          <p:cNvSpPr txBox="1"/>
          <p:nvPr/>
        </p:nvSpPr>
        <p:spPr>
          <a:xfrm>
            <a:off x="6492240" y="4800600"/>
            <a:ext cx="2011680" cy="365760"/>
          </a:xfrm>
          <a:prstGeom prst="rect">
            <a:avLst/>
          </a:prstGeom>
          <a:noFill/>
        </p:spPr>
        <p:txBody>
          <a:bodyPr wrap="square">
            <a:spAutoFit/>
          </a:bodyPr>
          <a:lstStyle/>
          <a:p>
            <a:pPr algn="l">
              <a:defRPr sz="900" b="1">
                <a:solidFill>
                  <a:srgbClr val="F8FAFC"/>
                </a:solidFill>
                <a:latin typeface="Calibri"/>
              </a:defRPr>
            </a:pPr>
            <a:r>
              <a:t>Benchmark Datasets</a:t>
            </a:r>
          </a:p>
        </p:txBody>
      </p:sp>
      <p:sp>
        <p:nvSpPr>
          <p:cNvPr id="31" name="TextBox 30"/>
          <p:cNvSpPr txBox="1"/>
          <p:nvPr/>
        </p:nvSpPr>
        <p:spPr>
          <a:xfrm>
            <a:off x="8503920" y="4800600"/>
            <a:ext cx="2743200" cy="365760"/>
          </a:xfrm>
          <a:prstGeom prst="rect">
            <a:avLst/>
          </a:prstGeom>
          <a:noFill/>
        </p:spPr>
        <p:txBody>
          <a:bodyPr wrap="square">
            <a:spAutoFit/>
          </a:bodyPr>
          <a:lstStyle/>
          <a:p>
            <a:pPr algn="l">
              <a:defRPr sz="900" b="0">
                <a:solidFill>
                  <a:srgbClr val="94A3B8"/>
                </a:solidFill>
                <a:latin typeface="Calibri"/>
              </a:defRPr>
            </a:pPr>
            <a:r>
              <a:t>Training and baseline comparison</a:t>
            </a:r>
          </a:p>
        </p:txBody>
      </p:sp>
      <p:sp>
        <p:nvSpPr>
          <p:cNvPr id="32" name="TextBox 31"/>
          <p:cNvSpPr txBox="1"/>
          <p:nvPr/>
        </p:nvSpPr>
        <p:spPr>
          <a:xfrm>
            <a:off x="6492240" y="5212080"/>
            <a:ext cx="2011680" cy="365760"/>
          </a:xfrm>
          <a:prstGeom prst="rect">
            <a:avLst/>
          </a:prstGeom>
          <a:noFill/>
        </p:spPr>
        <p:txBody>
          <a:bodyPr wrap="square">
            <a:spAutoFit/>
          </a:bodyPr>
          <a:lstStyle/>
          <a:p>
            <a:pPr algn="l">
              <a:defRPr sz="900" b="1">
                <a:solidFill>
                  <a:srgbClr val="F8FAFC"/>
                </a:solidFill>
                <a:latin typeface="Calibri"/>
              </a:defRPr>
            </a:pPr>
            <a:r>
              <a:t>Controlled Experiments</a:t>
            </a:r>
          </a:p>
        </p:txBody>
      </p:sp>
      <p:sp>
        <p:nvSpPr>
          <p:cNvPr id="33" name="TextBox 32"/>
          <p:cNvSpPr txBox="1"/>
          <p:nvPr/>
        </p:nvSpPr>
        <p:spPr>
          <a:xfrm>
            <a:off x="8503920" y="5212080"/>
            <a:ext cx="2743200" cy="365760"/>
          </a:xfrm>
          <a:prstGeom prst="rect">
            <a:avLst/>
          </a:prstGeom>
          <a:noFill/>
        </p:spPr>
        <p:txBody>
          <a:bodyPr wrap="square">
            <a:spAutoFit/>
          </a:bodyPr>
          <a:lstStyle/>
          <a:p>
            <a:pPr algn="l">
              <a:defRPr sz="900" b="0">
                <a:solidFill>
                  <a:srgbClr val="94A3B8"/>
                </a:solidFill>
                <a:latin typeface="Calibri"/>
              </a:defRPr>
            </a:pPr>
            <a:r>
              <a:t>Cloud testbed with simulated APT attacks</a:t>
            </a:r>
          </a:p>
        </p:txBody>
      </p:sp>
      <p:sp>
        <p:nvSpPr>
          <p:cNvPr id="34" name="TextBox 33"/>
          <p:cNvSpPr txBox="1"/>
          <p:nvPr/>
        </p:nvSpPr>
        <p:spPr>
          <a:xfrm>
            <a:off x="6492240" y="5623560"/>
            <a:ext cx="2011680" cy="365760"/>
          </a:xfrm>
          <a:prstGeom prst="rect">
            <a:avLst/>
          </a:prstGeom>
          <a:noFill/>
        </p:spPr>
        <p:txBody>
          <a:bodyPr wrap="square">
            <a:spAutoFit/>
          </a:bodyPr>
          <a:lstStyle/>
          <a:p>
            <a:pPr algn="l">
              <a:defRPr sz="900" b="1">
                <a:solidFill>
                  <a:srgbClr val="F8FAFC"/>
                </a:solidFill>
                <a:latin typeface="Calibri"/>
              </a:defRPr>
            </a:pPr>
            <a:r>
              <a:t>Statistical Testing</a:t>
            </a:r>
          </a:p>
        </p:txBody>
      </p:sp>
      <p:sp>
        <p:nvSpPr>
          <p:cNvPr id="35" name="TextBox 34"/>
          <p:cNvSpPr txBox="1"/>
          <p:nvPr/>
        </p:nvSpPr>
        <p:spPr>
          <a:xfrm>
            <a:off x="8503920" y="5623560"/>
            <a:ext cx="2743200" cy="365760"/>
          </a:xfrm>
          <a:prstGeom prst="rect">
            <a:avLst/>
          </a:prstGeom>
          <a:noFill/>
        </p:spPr>
        <p:txBody>
          <a:bodyPr wrap="square">
            <a:spAutoFit/>
          </a:bodyPr>
          <a:lstStyle/>
          <a:p>
            <a:pPr algn="l">
              <a:defRPr sz="900" b="0">
                <a:solidFill>
                  <a:srgbClr val="94A3B8"/>
                </a:solidFill>
                <a:latin typeface="Calibri"/>
              </a:defRPr>
            </a:pPr>
            <a:r>
              <a:t>t-tests and ANOVA for comparing models</a:t>
            </a:r>
          </a:p>
        </p:txBody>
      </p:sp>
      <p:sp>
        <p:nvSpPr>
          <p:cNvPr id="36" name="TextBox 35"/>
          <p:cNvSpPr txBox="1"/>
          <p:nvPr/>
        </p:nvSpPr>
        <p:spPr>
          <a:xfrm>
            <a:off x="6492240" y="6035040"/>
            <a:ext cx="2011680" cy="365760"/>
          </a:xfrm>
          <a:prstGeom prst="rect">
            <a:avLst/>
          </a:prstGeom>
          <a:noFill/>
        </p:spPr>
        <p:txBody>
          <a:bodyPr wrap="square">
            <a:spAutoFit/>
          </a:bodyPr>
          <a:lstStyle/>
          <a:p>
            <a:pPr algn="l">
              <a:defRPr sz="900" b="1">
                <a:solidFill>
                  <a:srgbClr val="F8FAFC"/>
                </a:solidFill>
                <a:latin typeface="Calibri"/>
              </a:defRPr>
            </a:pPr>
            <a:r>
              <a:t>Cross-Validation</a:t>
            </a:r>
          </a:p>
        </p:txBody>
      </p:sp>
      <p:sp>
        <p:nvSpPr>
          <p:cNvPr id="37" name="TextBox 36"/>
          <p:cNvSpPr txBox="1"/>
          <p:nvPr/>
        </p:nvSpPr>
        <p:spPr>
          <a:xfrm>
            <a:off x="8503920" y="6035040"/>
            <a:ext cx="2743200" cy="365760"/>
          </a:xfrm>
          <a:prstGeom prst="rect">
            <a:avLst/>
          </a:prstGeom>
          <a:noFill/>
        </p:spPr>
        <p:txBody>
          <a:bodyPr wrap="square">
            <a:spAutoFit/>
          </a:bodyPr>
          <a:lstStyle/>
          <a:p>
            <a:pPr algn="l">
              <a:defRPr sz="900" b="0">
                <a:solidFill>
                  <a:srgbClr val="94A3B8"/>
                </a:solidFill>
                <a:latin typeface="Calibri"/>
              </a:defRPr>
            </a:pPr>
            <a:r>
              <a:t>k-fold CV for robustness and generalisability</a:t>
            </a:r>
          </a:p>
        </p:txBody>
      </p:sp>
      <p:sp>
        <p:nvSpPr>
          <p:cNvPr id="38" name="TextBox 37"/>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03 / 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3B82F6">
              <a:alpha val="1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548640"/>
            <a:ext cx="5486400" cy="320040"/>
          </a:xfrm>
          <a:prstGeom prst="rect">
            <a:avLst/>
          </a:prstGeom>
          <a:noFill/>
        </p:spPr>
        <p:txBody>
          <a:bodyPr wrap="square">
            <a:spAutoFit/>
          </a:bodyPr>
          <a:lstStyle/>
          <a:p>
            <a:pPr algn="ctr">
              <a:defRPr sz="900" b="1">
                <a:solidFill>
                  <a:srgbClr val="6EE7B7"/>
                </a:solidFill>
                <a:latin typeface="Calibri"/>
              </a:defRPr>
            </a:pPr>
            <a:r>
              <a:t>SUMMARY</a:t>
            </a:r>
          </a:p>
        </p:txBody>
      </p:sp>
      <p:sp>
        <p:nvSpPr>
          <p:cNvPr id="5" name="TextBox 4"/>
          <p:cNvSpPr txBox="1"/>
          <p:nvPr/>
        </p:nvSpPr>
        <p:spPr>
          <a:xfrm>
            <a:off x="1828800" y="1005840"/>
            <a:ext cx="8503920" cy="640080"/>
          </a:xfrm>
          <a:prstGeom prst="rect">
            <a:avLst/>
          </a:prstGeom>
          <a:noFill/>
        </p:spPr>
        <p:txBody>
          <a:bodyPr wrap="square">
            <a:spAutoFit/>
          </a:bodyPr>
          <a:lstStyle/>
          <a:p>
            <a:pPr algn="ctr">
              <a:defRPr sz="2800" b="1">
                <a:solidFill>
                  <a:srgbClr val="F8FAFC"/>
                </a:solidFill>
                <a:latin typeface="Calibri"/>
              </a:defRPr>
            </a:pPr>
            <a:r>
              <a:t>Bringing It All Together</a:t>
            </a:r>
          </a:p>
        </p:txBody>
      </p:sp>
      <p:sp>
        <p:nvSpPr>
          <p:cNvPr id="6" name="TextBox 5"/>
          <p:cNvSpPr txBox="1"/>
          <p:nvPr/>
        </p:nvSpPr>
        <p:spPr>
          <a:xfrm>
            <a:off x="2286000" y="1645920"/>
            <a:ext cx="7589520" cy="457200"/>
          </a:xfrm>
          <a:prstGeom prst="rect">
            <a:avLst/>
          </a:prstGeom>
          <a:noFill/>
        </p:spPr>
        <p:txBody>
          <a:bodyPr wrap="square">
            <a:spAutoFit/>
          </a:bodyPr>
          <a:lstStyle/>
          <a:p>
            <a:pPr algn="ctr">
              <a:defRPr sz="1200" b="0">
                <a:solidFill>
                  <a:srgbClr val="CBD5E1"/>
                </a:solidFill>
                <a:latin typeface="Calibri"/>
              </a:defRPr>
            </a:pPr>
            <a:r>
              <a:t>Our philosophical stance and methodological choice form a coherent framework that directly supports every aspect of the research.</a:t>
            </a:r>
          </a:p>
        </p:txBody>
      </p:sp>
      <p:sp>
        <p:nvSpPr>
          <p:cNvPr id="7" name="Rounded Rectangle 6"/>
          <p:cNvSpPr/>
          <p:nvPr/>
        </p:nvSpPr>
        <p:spPr>
          <a:xfrm>
            <a:off x="457200" y="2377440"/>
            <a:ext cx="5486400" cy="3474720"/>
          </a:xfrm>
          <a:prstGeom prst="roundRect">
            <a:avLst/>
          </a:prstGeom>
          <a:solidFill>
            <a:srgbClr val="1A233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4937760" cy="365760"/>
          </a:xfrm>
          <a:prstGeom prst="rect">
            <a:avLst/>
          </a:prstGeom>
          <a:noFill/>
        </p:spPr>
        <p:txBody>
          <a:bodyPr wrap="square">
            <a:spAutoFit/>
          </a:bodyPr>
          <a:lstStyle/>
          <a:p>
            <a:pPr algn="ctr">
              <a:defRPr sz="1300" b="1">
                <a:solidFill>
                  <a:srgbClr val="93C5FD"/>
                </a:solidFill>
                <a:latin typeface="Calibri"/>
              </a:defRPr>
            </a:pPr>
            <a:r>
              <a:t>Research Design Overview</a:t>
            </a:r>
          </a:p>
        </p:txBody>
      </p:sp>
      <p:sp>
        <p:nvSpPr>
          <p:cNvPr id="9" name="Rounded Rectangle 8"/>
          <p:cNvSpPr/>
          <p:nvPr/>
        </p:nvSpPr>
        <p:spPr>
          <a:xfrm>
            <a:off x="548640" y="3063240"/>
            <a:ext cx="5212080" cy="43891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18104"/>
            <a:ext cx="2286000" cy="320040"/>
          </a:xfrm>
          <a:prstGeom prst="rect">
            <a:avLst/>
          </a:prstGeom>
          <a:noFill/>
        </p:spPr>
        <p:txBody>
          <a:bodyPr wrap="square">
            <a:spAutoFit/>
          </a:bodyPr>
          <a:lstStyle/>
          <a:p>
            <a:pPr algn="l">
              <a:defRPr sz="1000" b="1">
                <a:solidFill>
                  <a:srgbClr val="F8FAFC"/>
                </a:solidFill>
                <a:latin typeface="Calibri"/>
              </a:defRPr>
            </a:pPr>
            <a:r>
              <a:t>Philosophy</a:t>
            </a:r>
          </a:p>
        </p:txBody>
      </p:sp>
      <p:sp>
        <p:nvSpPr>
          <p:cNvPr id="11" name="TextBox 10"/>
          <p:cNvSpPr txBox="1"/>
          <p:nvPr/>
        </p:nvSpPr>
        <p:spPr>
          <a:xfrm>
            <a:off x="3200400" y="3118104"/>
            <a:ext cx="2468880" cy="320040"/>
          </a:xfrm>
          <a:prstGeom prst="rect">
            <a:avLst/>
          </a:prstGeom>
          <a:noFill/>
        </p:spPr>
        <p:txBody>
          <a:bodyPr wrap="square">
            <a:spAutoFit/>
          </a:bodyPr>
          <a:lstStyle/>
          <a:p>
            <a:pPr algn="l">
              <a:defRPr sz="1000" b="0">
                <a:solidFill>
                  <a:srgbClr val="67E8F9"/>
                </a:solidFill>
                <a:latin typeface="Calibri"/>
              </a:defRPr>
            </a:pPr>
            <a:r>
              <a:t>Positivism</a:t>
            </a:r>
          </a:p>
        </p:txBody>
      </p:sp>
      <p:sp>
        <p:nvSpPr>
          <p:cNvPr id="12" name="Rounded Rectangle 11"/>
          <p:cNvSpPr/>
          <p:nvPr/>
        </p:nvSpPr>
        <p:spPr>
          <a:xfrm>
            <a:off x="548640" y="3566160"/>
            <a:ext cx="5212080" cy="438912"/>
          </a:xfrm>
          <a:prstGeom prst="roundRect">
            <a:avLst/>
          </a:prstGeom>
          <a:solidFill>
            <a:srgbClr val="15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21024"/>
            <a:ext cx="2286000" cy="320040"/>
          </a:xfrm>
          <a:prstGeom prst="rect">
            <a:avLst/>
          </a:prstGeom>
          <a:noFill/>
        </p:spPr>
        <p:txBody>
          <a:bodyPr wrap="square">
            <a:spAutoFit/>
          </a:bodyPr>
          <a:lstStyle/>
          <a:p>
            <a:pPr algn="l">
              <a:defRPr sz="1000" b="1">
                <a:solidFill>
                  <a:srgbClr val="F8FAFC"/>
                </a:solidFill>
                <a:latin typeface="Calibri"/>
              </a:defRPr>
            </a:pPr>
            <a:r>
              <a:t>Approach</a:t>
            </a:r>
          </a:p>
        </p:txBody>
      </p:sp>
      <p:sp>
        <p:nvSpPr>
          <p:cNvPr id="14" name="TextBox 13"/>
          <p:cNvSpPr txBox="1"/>
          <p:nvPr/>
        </p:nvSpPr>
        <p:spPr>
          <a:xfrm>
            <a:off x="3200400" y="3621024"/>
            <a:ext cx="2468880" cy="320040"/>
          </a:xfrm>
          <a:prstGeom prst="rect">
            <a:avLst/>
          </a:prstGeom>
          <a:noFill/>
        </p:spPr>
        <p:txBody>
          <a:bodyPr wrap="square">
            <a:spAutoFit/>
          </a:bodyPr>
          <a:lstStyle/>
          <a:p>
            <a:pPr algn="l">
              <a:defRPr sz="1000" b="0">
                <a:solidFill>
                  <a:srgbClr val="67E8F9"/>
                </a:solidFill>
                <a:latin typeface="Calibri"/>
              </a:defRPr>
            </a:pPr>
            <a:r>
              <a:t>Deductive</a:t>
            </a:r>
          </a:p>
        </p:txBody>
      </p:sp>
      <p:sp>
        <p:nvSpPr>
          <p:cNvPr id="15" name="Rounded Rectangle 14"/>
          <p:cNvSpPr/>
          <p:nvPr/>
        </p:nvSpPr>
        <p:spPr>
          <a:xfrm>
            <a:off x="548640" y="4069080"/>
            <a:ext cx="5212080" cy="43891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23944"/>
            <a:ext cx="2286000" cy="320040"/>
          </a:xfrm>
          <a:prstGeom prst="rect">
            <a:avLst/>
          </a:prstGeom>
          <a:noFill/>
        </p:spPr>
        <p:txBody>
          <a:bodyPr wrap="square">
            <a:spAutoFit/>
          </a:bodyPr>
          <a:lstStyle/>
          <a:p>
            <a:pPr algn="l">
              <a:defRPr sz="1000" b="1">
                <a:solidFill>
                  <a:srgbClr val="F8FAFC"/>
                </a:solidFill>
                <a:latin typeface="Calibri"/>
              </a:defRPr>
            </a:pPr>
            <a:r>
              <a:t>Methodology</a:t>
            </a:r>
          </a:p>
        </p:txBody>
      </p:sp>
      <p:sp>
        <p:nvSpPr>
          <p:cNvPr id="17" name="TextBox 16"/>
          <p:cNvSpPr txBox="1"/>
          <p:nvPr/>
        </p:nvSpPr>
        <p:spPr>
          <a:xfrm>
            <a:off x="3200400" y="4123944"/>
            <a:ext cx="2468880" cy="320040"/>
          </a:xfrm>
          <a:prstGeom prst="rect">
            <a:avLst/>
          </a:prstGeom>
          <a:noFill/>
        </p:spPr>
        <p:txBody>
          <a:bodyPr wrap="square">
            <a:spAutoFit/>
          </a:bodyPr>
          <a:lstStyle/>
          <a:p>
            <a:pPr algn="l">
              <a:defRPr sz="1000" b="0">
                <a:solidFill>
                  <a:srgbClr val="67E8F9"/>
                </a:solidFill>
                <a:latin typeface="Calibri"/>
              </a:defRPr>
            </a:pPr>
            <a:r>
              <a:t>Quantitative</a:t>
            </a:r>
          </a:p>
        </p:txBody>
      </p:sp>
      <p:sp>
        <p:nvSpPr>
          <p:cNvPr id="18" name="Rounded Rectangle 17"/>
          <p:cNvSpPr/>
          <p:nvPr/>
        </p:nvSpPr>
        <p:spPr>
          <a:xfrm>
            <a:off x="548640" y="4572000"/>
            <a:ext cx="5212080" cy="438912"/>
          </a:xfrm>
          <a:prstGeom prst="roundRect">
            <a:avLst/>
          </a:prstGeom>
          <a:solidFill>
            <a:srgbClr val="15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26864"/>
            <a:ext cx="2286000" cy="320040"/>
          </a:xfrm>
          <a:prstGeom prst="rect">
            <a:avLst/>
          </a:prstGeom>
          <a:noFill/>
        </p:spPr>
        <p:txBody>
          <a:bodyPr wrap="square">
            <a:spAutoFit/>
          </a:bodyPr>
          <a:lstStyle/>
          <a:p>
            <a:pPr algn="l">
              <a:defRPr sz="1000" b="1">
                <a:solidFill>
                  <a:srgbClr val="F8FAFC"/>
                </a:solidFill>
                <a:latin typeface="Calibri"/>
              </a:defRPr>
            </a:pPr>
            <a:r>
              <a:t>Primary Methods</a:t>
            </a:r>
          </a:p>
        </p:txBody>
      </p:sp>
      <p:sp>
        <p:nvSpPr>
          <p:cNvPr id="20" name="TextBox 19"/>
          <p:cNvSpPr txBox="1"/>
          <p:nvPr/>
        </p:nvSpPr>
        <p:spPr>
          <a:xfrm>
            <a:off x="3200400" y="4626864"/>
            <a:ext cx="2468880" cy="320040"/>
          </a:xfrm>
          <a:prstGeom prst="rect">
            <a:avLst/>
          </a:prstGeom>
          <a:noFill/>
        </p:spPr>
        <p:txBody>
          <a:bodyPr wrap="square">
            <a:spAutoFit/>
          </a:bodyPr>
          <a:lstStyle/>
          <a:p>
            <a:pPr algn="l">
              <a:defRPr sz="1000" b="0">
                <a:solidFill>
                  <a:srgbClr val="67E8F9"/>
                </a:solidFill>
                <a:latin typeface="Calibri"/>
              </a:defRPr>
            </a:pPr>
            <a:r>
              <a:t>Experiments + Benchmark Analysis</a:t>
            </a:r>
          </a:p>
        </p:txBody>
      </p:sp>
      <p:sp>
        <p:nvSpPr>
          <p:cNvPr id="21" name="Rounded Rectangle 20"/>
          <p:cNvSpPr/>
          <p:nvPr/>
        </p:nvSpPr>
        <p:spPr>
          <a:xfrm>
            <a:off x="548640" y="5074920"/>
            <a:ext cx="5212080" cy="438912"/>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129784"/>
            <a:ext cx="2286000" cy="320040"/>
          </a:xfrm>
          <a:prstGeom prst="rect">
            <a:avLst/>
          </a:prstGeom>
          <a:noFill/>
        </p:spPr>
        <p:txBody>
          <a:bodyPr wrap="square">
            <a:spAutoFit/>
          </a:bodyPr>
          <a:lstStyle/>
          <a:p>
            <a:pPr algn="l">
              <a:defRPr sz="1000" b="1">
                <a:solidFill>
                  <a:srgbClr val="F8FAFC"/>
                </a:solidFill>
                <a:latin typeface="Calibri"/>
              </a:defRPr>
            </a:pPr>
            <a:r>
              <a:t>Data Analysis</a:t>
            </a:r>
          </a:p>
        </p:txBody>
      </p:sp>
      <p:sp>
        <p:nvSpPr>
          <p:cNvPr id="23" name="TextBox 22"/>
          <p:cNvSpPr txBox="1"/>
          <p:nvPr/>
        </p:nvSpPr>
        <p:spPr>
          <a:xfrm>
            <a:off x="3200400" y="5129784"/>
            <a:ext cx="2468880" cy="320040"/>
          </a:xfrm>
          <a:prstGeom prst="rect">
            <a:avLst/>
          </a:prstGeom>
          <a:noFill/>
        </p:spPr>
        <p:txBody>
          <a:bodyPr wrap="square">
            <a:spAutoFit/>
          </a:bodyPr>
          <a:lstStyle/>
          <a:p>
            <a:pPr algn="l">
              <a:defRPr sz="1000" b="0">
                <a:solidFill>
                  <a:srgbClr val="67E8F9"/>
                </a:solidFill>
                <a:latin typeface="Calibri"/>
              </a:defRPr>
            </a:pPr>
            <a:r>
              <a:t>Statistical + ML Performance Metrics</a:t>
            </a:r>
          </a:p>
        </p:txBody>
      </p:sp>
      <p:sp>
        <p:nvSpPr>
          <p:cNvPr id="24" name="Rounded Rectangle 23"/>
          <p:cNvSpPr/>
          <p:nvPr/>
        </p:nvSpPr>
        <p:spPr>
          <a:xfrm>
            <a:off x="6217920" y="2377440"/>
            <a:ext cx="5486400" cy="3474720"/>
          </a:xfrm>
          <a:prstGeom prst="roundRect">
            <a:avLst/>
          </a:prstGeom>
          <a:solidFill>
            <a:srgbClr val="1A233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560320"/>
            <a:ext cx="4937760" cy="365760"/>
          </a:xfrm>
          <a:prstGeom prst="rect">
            <a:avLst/>
          </a:prstGeom>
          <a:noFill/>
        </p:spPr>
        <p:txBody>
          <a:bodyPr wrap="square">
            <a:spAutoFit/>
          </a:bodyPr>
          <a:lstStyle/>
          <a:p>
            <a:pPr algn="l">
              <a:defRPr sz="1300" b="1">
                <a:solidFill>
                  <a:srgbClr val="6EE7B7"/>
                </a:solidFill>
                <a:latin typeface="Calibri"/>
              </a:defRPr>
            </a:pPr>
            <a:r>
              <a:t>Final Justification</a:t>
            </a:r>
          </a:p>
        </p:txBody>
      </p:sp>
      <p:sp>
        <p:nvSpPr>
          <p:cNvPr id="26" name="TextBox 25"/>
          <p:cNvSpPr txBox="1"/>
          <p:nvPr/>
        </p:nvSpPr>
        <p:spPr>
          <a:xfrm>
            <a:off x="6675120" y="3017520"/>
            <a:ext cx="4754880" cy="274320"/>
          </a:xfrm>
          <a:prstGeom prst="rect">
            <a:avLst/>
          </a:prstGeom>
          <a:noFill/>
        </p:spPr>
        <p:txBody>
          <a:bodyPr wrap="square">
            <a:spAutoFit/>
          </a:bodyPr>
          <a:lstStyle/>
          <a:p>
            <a:pPr algn="l">
              <a:defRPr sz="1000" b="1">
                <a:solidFill>
                  <a:srgbClr val="F8FAFC"/>
                </a:solidFill>
                <a:latin typeface="Calibri"/>
              </a:defRPr>
            </a:pPr>
            <a:r>
              <a:t>  Positivism</a:t>
            </a:r>
          </a:p>
        </p:txBody>
      </p:sp>
      <p:sp>
        <p:nvSpPr>
          <p:cNvPr id="27" name="TextBox 26"/>
          <p:cNvSpPr txBox="1"/>
          <p:nvPr/>
        </p:nvSpPr>
        <p:spPr>
          <a:xfrm>
            <a:off x="6675120" y="3273552"/>
            <a:ext cx="4754880" cy="320040"/>
          </a:xfrm>
          <a:prstGeom prst="rect">
            <a:avLst/>
          </a:prstGeom>
          <a:noFill/>
        </p:spPr>
        <p:txBody>
          <a:bodyPr wrap="square">
            <a:spAutoFit/>
          </a:bodyPr>
          <a:lstStyle/>
          <a:p>
            <a:pPr algn="l">
              <a:defRPr sz="900" b="0">
                <a:solidFill>
                  <a:srgbClr val="94A3B8"/>
                </a:solidFill>
                <a:latin typeface="Calibri"/>
              </a:defRPr>
            </a:pPr>
            <a:r>
              <a:t>    assumes knowledge comes from measurable observation - our AI models produce exactly that</a:t>
            </a:r>
          </a:p>
        </p:txBody>
      </p:sp>
      <p:sp>
        <p:nvSpPr>
          <p:cNvPr id="28" name="TextBox 27"/>
          <p:cNvSpPr txBox="1"/>
          <p:nvPr/>
        </p:nvSpPr>
        <p:spPr>
          <a:xfrm>
            <a:off x="6675120" y="3657600"/>
            <a:ext cx="4754880" cy="274320"/>
          </a:xfrm>
          <a:prstGeom prst="rect">
            <a:avLst/>
          </a:prstGeom>
          <a:noFill/>
        </p:spPr>
        <p:txBody>
          <a:bodyPr wrap="square">
            <a:spAutoFit/>
          </a:bodyPr>
          <a:lstStyle/>
          <a:p>
            <a:pPr algn="l">
              <a:defRPr sz="1000" b="1">
                <a:solidFill>
                  <a:srgbClr val="F8FAFC"/>
                </a:solidFill>
                <a:latin typeface="Calibri"/>
              </a:defRPr>
            </a:pPr>
            <a:r>
              <a:t>  Deductive approach</a:t>
            </a:r>
          </a:p>
        </p:txBody>
      </p:sp>
      <p:sp>
        <p:nvSpPr>
          <p:cNvPr id="29" name="TextBox 28"/>
          <p:cNvSpPr txBox="1"/>
          <p:nvPr/>
        </p:nvSpPr>
        <p:spPr>
          <a:xfrm>
            <a:off x="6675120" y="3913632"/>
            <a:ext cx="4754880" cy="320040"/>
          </a:xfrm>
          <a:prstGeom prst="rect">
            <a:avLst/>
          </a:prstGeom>
          <a:noFill/>
        </p:spPr>
        <p:txBody>
          <a:bodyPr wrap="square">
            <a:spAutoFit/>
          </a:bodyPr>
          <a:lstStyle/>
          <a:p>
            <a:pPr algn="l">
              <a:defRPr sz="900" b="0">
                <a:solidFill>
                  <a:srgbClr val="94A3B8"/>
                </a:solidFill>
                <a:latin typeface="Calibri"/>
              </a:defRPr>
            </a:pPr>
            <a:r>
              <a:t>    lets us start from established ML theory, form hypotheses, and test them</a:t>
            </a:r>
          </a:p>
        </p:txBody>
      </p:sp>
      <p:sp>
        <p:nvSpPr>
          <p:cNvPr id="30" name="TextBox 29"/>
          <p:cNvSpPr txBox="1"/>
          <p:nvPr/>
        </p:nvSpPr>
        <p:spPr>
          <a:xfrm>
            <a:off x="6675120" y="4297679"/>
            <a:ext cx="4754880" cy="274320"/>
          </a:xfrm>
          <a:prstGeom prst="rect">
            <a:avLst/>
          </a:prstGeom>
          <a:noFill/>
        </p:spPr>
        <p:txBody>
          <a:bodyPr wrap="square">
            <a:spAutoFit/>
          </a:bodyPr>
          <a:lstStyle/>
          <a:p>
            <a:pPr algn="l">
              <a:defRPr sz="1000" b="1">
                <a:solidFill>
                  <a:srgbClr val="F8FAFC"/>
                </a:solidFill>
                <a:latin typeface="Calibri"/>
              </a:defRPr>
            </a:pPr>
            <a:r>
              <a:t>  Quantitative methodology</a:t>
            </a:r>
          </a:p>
        </p:txBody>
      </p:sp>
      <p:sp>
        <p:nvSpPr>
          <p:cNvPr id="31" name="TextBox 30"/>
          <p:cNvSpPr txBox="1"/>
          <p:nvPr/>
        </p:nvSpPr>
        <p:spPr>
          <a:xfrm>
            <a:off x="6675120" y="4553711"/>
            <a:ext cx="4754880" cy="320040"/>
          </a:xfrm>
          <a:prstGeom prst="rect">
            <a:avLst/>
          </a:prstGeom>
          <a:noFill/>
        </p:spPr>
        <p:txBody>
          <a:bodyPr wrap="square">
            <a:spAutoFit/>
          </a:bodyPr>
          <a:lstStyle/>
          <a:p>
            <a:pPr algn="l">
              <a:defRPr sz="900" b="0">
                <a:solidFill>
                  <a:srgbClr val="94A3B8"/>
                </a:solidFill>
                <a:latin typeface="Calibri"/>
              </a:defRPr>
            </a:pPr>
            <a:r>
              <a:t>    provides the structured numerical framework to evaluate our system</a:t>
            </a:r>
          </a:p>
        </p:txBody>
      </p:sp>
      <p:sp>
        <p:nvSpPr>
          <p:cNvPr id="32" name="TextBox 31"/>
          <p:cNvSpPr txBox="1"/>
          <p:nvPr/>
        </p:nvSpPr>
        <p:spPr>
          <a:xfrm>
            <a:off x="6675120" y="4937759"/>
            <a:ext cx="4754880" cy="274320"/>
          </a:xfrm>
          <a:prstGeom prst="rect">
            <a:avLst/>
          </a:prstGeom>
          <a:noFill/>
        </p:spPr>
        <p:txBody>
          <a:bodyPr wrap="square">
            <a:spAutoFit/>
          </a:bodyPr>
          <a:lstStyle/>
          <a:p>
            <a:pPr algn="l">
              <a:defRPr sz="1000" b="1">
                <a:solidFill>
                  <a:srgbClr val="F8FAFC"/>
                </a:solidFill>
                <a:latin typeface="Calibri"/>
              </a:defRPr>
            </a:pPr>
            <a:r>
              <a:t>  Experimental methods</a:t>
            </a:r>
          </a:p>
        </p:txBody>
      </p:sp>
      <p:sp>
        <p:nvSpPr>
          <p:cNvPr id="33" name="TextBox 32"/>
          <p:cNvSpPr txBox="1"/>
          <p:nvPr/>
        </p:nvSpPr>
        <p:spPr>
          <a:xfrm>
            <a:off x="6675120" y="5193791"/>
            <a:ext cx="4754880" cy="320040"/>
          </a:xfrm>
          <a:prstGeom prst="rect">
            <a:avLst/>
          </a:prstGeom>
          <a:noFill/>
        </p:spPr>
        <p:txBody>
          <a:bodyPr wrap="square">
            <a:spAutoFit/>
          </a:bodyPr>
          <a:lstStyle/>
          <a:p>
            <a:pPr algn="l">
              <a:defRPr sz="900" b="0">
                <a:solidFill>
                  <a:srgbClr val="94A3B8"/>
                </a:solidFill>
                <a:latin typeface="Calibri"/>
              </a:defRPr>
            </a:pPr>
            <a:r>
              <a:t>    allow controlled, reproducible testing the community can verify</a:t>
            </a:r>
          </a:p>
        </p:txBody>
      </p:sp>
      <p:sp>
        <p:nvSpPr>
          <p:cNvPr id="34" name="Rounded Rectangle 33"/>
          <p:cNvSpPr/>
          <p:nvPr/>
        </p:nvSpPr>
        <p:spPr>
          <a:xfrm>
            <a:off x="457200" y="6035040"/>
            <a:ext cx="11247120" cy="640080"/>
          </a:xfrm>
          <a:prstGeom prst="roundRect">
            <a:avLst/>
          </a:prstGeom>
          <a:solidFill>
            <a:srgbClr val="0A1A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6126480"/>
            <a:ext cx="10789920" cy="457200"/>
          </a:xfrm>
          <a:prstGeom prst="rect">
            <a:avLst/>
          </a:prstGeom>
          <a:noFill/>
        </p:spPr>
        <p:txBody>
          <a:bodyPr wrap="square">
            <a:spAutoFit/>
          </a:bodyPr>
          <a:lstStyle/>
          <a:p>
            <a:pPr algn="ctr">
              <a:defRPr sz="1000" b="0">
                <a:solidFill>
                  <a:srgbClr val="CBD5E1"/>
                </a:solidFill>
                <a:latin typeface="Calibri"/>
              </a:defRPr>
            </a:pPr>
            <a:r>
              <a:t>Each element reinforces the others, creating a logically consistent research design suited to answering our core question with confidence.</a:t>
            </a:r>
          </a:p>
        </p:txBody>
      </p:sp>
      <p:sp>
        <p:nvSpPr>
          <p:cNvPr id="36" name="TextBox 35"/>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04 /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