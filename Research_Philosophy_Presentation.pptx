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457200"/>
            <a:ext cx="3200400" cy="3200400"/>
          </a:xfrm>
          <a:prstGeom prst="ellipse">
            <a:avLst/>
          </a:prstGeom>
          <a:solidFill>
            <a:srgbClr val="6366F1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286000" cy="2286000"/>
          </a:xfrm>
          <a:prstGeom prst="ellipse">
            <a:avLst/>
          </a:prstGeom>
          <a:solidFill>
            <a:srgbClr val="06B6D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1828800"/>
            <a:ext cx="4572000" cy="4572000"/>
          </a:xfrm>
          <a:prstGeom prst="ellipse">
            <a:avLst/>
          </a:prstGeom>
          <a:solidFill>
            <a:srgbClr val="8B5CF6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18CF8"/>
                </a:solidFill>
                <a:latin typeface="Calibri"/>
              </a:defRPr>
            </a:pPr>
            <a:r>
              <a:t>RESEARCH METHODOLOGY  |  PHILOSOPHY &amp;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E2E8F0"/>
                </a:solidFill>
                <a:latin typeface="Calibri"/>
              </a:defRPr>
            </a:pPr>
            <a:r>
              <a:t>Detection of Advanced Persistent Threats</a:t>
            </a:r>
            <a:br/>
            <a:r>
              <a:t>in Cloud Networks Using Artificial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This research investigates the application of AI and machine learning techniques to detect sophisticated, multi-stage APTs targeting cloud infrastructure. The study aims to develop a novel, explainable detection framework addressing gaps in real-time processing, adversarial robustness, and cross-stage threat correlation.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846320"/>
            <a:ext cx="8503920" cy="1097280"/>
          </a:xfrm>
          <a:prstGeom prst="roundRect">
            <a:avLst/>
          </a:prstGeom>
          <a:solidFill>
            <a:srgbClr val="0A1F2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4983480"/>
            <a:ext cx="7955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Research Focus: Empirical evaluation of AI models on cloud network data, measuring detection accuracy, false positive rates, inference latency, and explainability of threat classifications across multi-cloud environments.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457200"/>
            <a:ext cx="3200400" cy="3200400"/>
          </a:xfrm>
          <a:prstGeom prst="ellipse">
            <a:avLst/>
          </a:prstGeom>
          <a:solidFill>
            <a:srgbClr val="6366F1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286000" cy="2286000"/>
          </a:xfrm>
          <a:prstGeom prst="ellipse">
            <a:avLst/>
          </a:prstGeom>
          <a:solidFill>
            <a:srgbClr val="06B6D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78BFA"/>
                </a:solidFill>
                <a:latin typeface="Calibri"/>
              </a:defRPr>
            </a:pPr>
            <a:r>
              <a:t>EPISTEMOLOGY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Calibri"/>
              </a:defRPr>
            </a:pPr>
            <a:r>
              <a:t>Research Philosophies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Four major philosophies and their applicability to AI-based APT detection research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828800"/>
            <a:ext cx="27432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18CF8"/>
                </a:solidFill>
                <a:latin typeface="Calibri"/>
              </a:defRPr>
            </a:pPr>
            <a:r>
              <a:t>Positivism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Knowledge through observable, measurable facts. Emphasizes objectivity and hypothesis testing.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ADE80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49039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Enables quantitative evaluation (accuracy, precision, recall). Reproducible experiments.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63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F4444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May overlook contextual/adaptive nature of APT actors.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828800"/>
            <a:ext cx="27432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D3EE"/>
                </a:solidFill>
                <a:latin typeface="Calibri"/>
              </a:defRPr>
            </a:pPr>
            <a:r>
              <a:t>Interpretivism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4688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Understanding through subjective experiences and meanings. Focuses on context and interpretation.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474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ADE80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749039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Useful for understanding SOC analyst decision-making and alert interpretation.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663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F4444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9377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Not ideal for validating AI model performance. Lacks generalizability.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828800"/>
            <a:ext cx="27432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Calibri"/>
              </a:defRPr>
            </a:pPr>
            <a:r>
              <a:t>Pragmatism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688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Knowledge judged by practical consequences. Supports mixed methods approach.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474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ADE80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749039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Combines quantitative metrics with qualitative expert validation. Flexible.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663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F4444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9377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May lack philosophical rigour. Risk of paradigm inconsistency.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1828800"/>
            <a:ext cx="27432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Realism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4688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Reality exists independently. Accepts observable data and underlying causal mechanisms.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3474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ADE80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749039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Acknowledges complex, layered nature of APTs. Explores causal mechanisms.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4663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F4444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49377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Harder to operationalize in purely computational experiments.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457200"/>
            <a:ext cx="3200400" cy="3200400"/>
          </a:xfrm>
          <a:prstGeom prst="ellipse">
            <a:avLst/>
          </a:prstGeom>
          <a:solidFill>
            <a:srgbClr val="6366F1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286000" cy="2286000"/>
          </a:xfrm>
          <a:prstGeom prst="ellipse">
            <a:avLst/>
          </a:prstGeom>
          <a:solidFill>
            <a:srgbClr val="06B6D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Calibri"/>
              </a:defRPr>
            </a:pPr>
            <a:r>
              <a:t>SELECTED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Calibri"/>
              </a:defRPr>
            </a:pPr>
            <a:r>
              <a:t>Positivism - The Most Suitable Philosophy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Positivism is selected as the guiding research philosophy for this AI-based APT detection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920240"/>
            <a:ext cx="5669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alibri"/>
              </a:defRPr>
            </a:pPr>
            <a:r>
              <a:t>Why Positivism?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Research relies on quantitative, measurable outcomes - accuracy, precision, recall, F1-score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3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Requires objective, reproducible experiments using standardized datasets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Involves hypothesis testing - 'AI model X detects APTs better than baseline'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Supports generalizability across different cloud environments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1207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Aligns with scientific method dominant in CS and cybersecurity research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920240"/>
            <a:ext cx="530352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Calibri"/>
              </a:defRPr>
            </a:pPr>
            <a:r>
              <a:t>Alignment with Research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560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Empirical validation of AI model performance on network traffic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017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Statistical comparison of multiple detection algorithms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Controlled experiments with train/test splits and cross-validation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931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Value-free observation - system performance is objective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389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Identifying causal relationships between features and detection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5120640"/>
            <a:ext cx="5303520" cy="1188720"/>
          </a:xfrm>
          <a:prstGeom prst="roundRect">
            <a:avLst/>
          </a:prstGeom>
          <a:solidFill>
            <a:srgbClr val="0A1F2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52578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Key Insight: Since APT detection is fundamentally a classification/anomaly detection problem evaluated through numerical metrics, positivism provides the most rigorous framework for validating our AI approach.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457200"/>
            <a:ext cx="3200400" cy="3200400"/>
          </a:xfrm>
          <a:prstGeom prst="ellipse">
            <a:avLst/>
          </a:prstGeom>
          <a:solidFill>
            <a:srgbClr val="6366F1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286000" cy="2286000"/>
          </a:xfrm>
          <a:prstGeom prst="ellipse">
            <a:avLst/>
          </a:prstGeom>
          <a:solidFill>
            <a:srgbClr val="06B6D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Calibri"/>
              </a:defRPr>
            </a:pPr>
            <a:r>
              <a:t>RESEARCH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Calibri"/>
              </a:defRPr>
            </a:pPr>
            <a:r>
              <a:t>Deductive Approach - Theory to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Moving from established theories and hypotheses to empirical testing and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920240"/>
            <a:ext cx="56692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2560320" cy="914400"/>
          </a:xfrm>
          <a:prstGeom prst="roundRect">
            <a:avLst/>
          </a:prstGeom>
          <a:solidFill>
            <a:srgbClr val="151D3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18CF8"/>
                </a:solidFill>
                <a:latin typeface="Calibri"/>
              </a:defRPr>
            </a:pPr>
            <a:r>
              <a:t>DEDUCTIVE  [Selected]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Theory &gt; Hypothesis &gt; Data &gt; Testing &gt; Confirm/Reject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103120"/>
            <a:ext cx="2560320" cy="914400"/>
          </a:xfrm>
          <a:prstGeom prst="roundRect">
            <a:avLst/>
          </a:prstGeom>
          <a:solidFill>
            <a:srgbClr val="1F1515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Calibri"/>
              </a:defRPr>
            </a:pPr>
            <a:r>
              <a:t>INDUCTIVE  [Not selected]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Observation &gt; Pattern &gt; Hypothesis &gt; Theory (exploratory)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383280"/>
            <a:ext cx="566928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D3EE"/>
                </a:solidFill>
                <a:latin typeface="Calibri"/>
              </a:defRPr>
            </a:pPr>
            <a:r>
              <a:t>Deductive Process for This Study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23360"/>
            <a:ext cx="5120640" cy="50292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069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66F1"/>
                </a:solidFill>
                <a:latin typeface="Calibri"/>
              </a:defRPr>
            </a:pPr>
            <a:r>
              <a:t>1. Theory: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069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AI/DL can model complex, non-linear attack patterns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663440"/>
            <a:ext cx="5120640" cy="50292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09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2. Hypothesis: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709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Proposed hybrid model achieves &gt;95% detection rate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303520"/>
            <a:ext cx="5120640" cy="50292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349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alibri"/>
              </a:defRPr>
            </a:pPr>
            <a:r>
              <a:t>3. Experiment: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349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Train/test on cloud APT datasets with baselines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943600"/>
            <a:ext cx="5120640" cy="50292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989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Calibri"/>
              </a:defRPr>
            </a:pPr>
            <a:r>
              <a:t>4. Validate: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989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Statistical tests confirm or reject hypothesis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1920240"/>
            <a:ext cx="530352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Why Deductive is Suitable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6060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60604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Existing theoretical foundation in ML/DL pattern recognition provides clear starting hypotheses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246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24612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Testable predictions - specific, falsifiable hypotheses about model performance metrics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8862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8862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Structured methodology - systematic comparison of proposed vs. existing approaches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52627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526279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Generalizability - results applicable beyond specific test dataset to broader environments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1663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516636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Alignment with positivism - deductive naturally complements positivist philosophy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806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580644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Benchmarking standard - consistent with how ML/AI research is conducted in top venues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457200"/>
            <a:ext cx="3200400" cy="3200400"/>
          </a:xfrm>
          <a:prstGeom prst="ellipse">
            <a:avLst/>
          </a:prstGeom>
          <a:solidFill>
            <a:srgbClr val="6366F1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286000" cy="2286000"/>
          </a:xfrm>
          <a:prstGeom prst="ellipse">
            <a:avLst/>
          </a:prstGeom>
          <a:solidFill>
            <a:srgbClr val="06B6D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Calibri"/>
              </a:defRPr>
            </a:pPr>
            <a:r>
              <a:t>FINAL JUSTIFICATION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Calibri"/>
              </a:defRPr>
            </a:pPr>
            <a:r>
              <a:t>How Philosophy &amp; Approach Support the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Coherent alignment between Positivism + Deductive approach and objectives, data collection, and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920240"/>
            <a:ext cx="566928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alibri"/>
              </a:defRPr>
            </a:pPr>
            <a:r>
              <a:t>Supporting Research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E8F0"/>
                </a:solidFill>
                <a:latin typeface="Calibri"/>
              </a:defRPr>
            </a:pPr>
            <a:r>
              <a:t>Obj 1: Develop AI detection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Calibri"/>
              </a:defRPr>
            </a:pPr>
            <a:r>
              <a:t>  Positivism enables objective measurement of framework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E8F0"/>
                </a:solidFill>
                <a:latin typeface="Calibri"/>
              </a:defRPr>
            </a:pPr>
            <a:r>
              <a:t>Obj 2: Compare with existing methods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5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Calibri"/>
              </a:defRPr>
            </a:pPr>
            <a:r>
              <a:t>  Deductive approach structures hypothesis-driven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E8F0"/>
                </a:solidFill>
                <a:latin typeface="Calibri"/>
              </a:defRPr>
            </a:pPr>
            <a:r>
              <a:t>Obj 3: Validate in cloud environments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Calibri"/>
              </a:defRPr>
            </a:pPr>
            <a:r>
              <a:t>  Positivism demands empirical testing in realistic scenarios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E8F0"/>
                </a:solidFill>
                <a:latin typeface="Calibri"/>
              </a:defRPr>
            </a:pPr>
            <a:r>
              <a:t>Obj 4: Ensure explainability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Calibri"/>
              </a:defRPr>
            </a:pPr>
            <a:r>
              <a:t>  Measurable XAI metrics (fidelity, stability) align with positivist evaluation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920240"/>
            <a:ext cx="53035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Calibri"/>
              </a:defRPr>
            </a:pPr>
            <a:r>
              <a:t>Supporting Data Collection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  Quantitative network traffic datasets (CICIDS, Unraveled, DARPA)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880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  Structured numerical features from cloud logs &amp; 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  Controlled experimental conditions with train/val/test splits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5204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  Reproducible simulations using MITRE ATT&amp;CK scenarios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931920"/>
            <a:ext cx="53035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114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Supporting Data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  Statistical hypothesis testing (t-tests, ANOVA, Wilcoxon)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892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  Performance metrics - Accuracy, Precision, Recall, F1, AUC-ROC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5212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  Confusion matrices &amp; ROC curves for visual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532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  Cross-validation (k-fold) ensuring robustness &amp; generalizability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5943600"/>
            <a:ext cx="11430000" cy="777240"/>
          </a:xfrm>
          <a:prstGeom prst="roundRect">
            <a:avLst/>
          </a:prstGeom>
          <a:solidFill>
            <a:srgbClr val="0A1F2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035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Conclusion: The combination of Positivism (philosophy) and Deductive Approach provides a rigorous, objective, and systematic framework perfectly suited to developing, testing, and validating an AI-based APT detection system through empirical experimentation and statistical analysis.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