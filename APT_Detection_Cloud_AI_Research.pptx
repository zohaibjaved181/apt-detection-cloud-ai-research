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1828800"/>
            <a:ext cx="3657600" cy="3657600"/>
          </a:xfrm>
          <a:prstGeom prst="ellipse">
            <a:avLst/>
          </a:prstGeom>
          <a:solidFill>
            <a:srgbClr val="8B5CF6">
              <a:alpha val="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914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18CF8"/>
                </a:solidFill>
                <a:latin typeface="Calibri"/>
              </a:defRPr>
            </a:pPr>
            <a:r>
              <a:t>RESEARCH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914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Calibri"/>
              </a:defRPr>
            </a:pPr>
            <a:r>
              <a:t>2024-2025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7160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2E8F0"/>
                </a:solidFill>
                <a:latin typeface="Calibri"/>
              </a:defRPr>
            </a:pPr>
            <a:r>
              <a:t>Detection of Advanced Persistent Threats</a:t>
            </a:r>
            <a:br/>
            <a:r>
              <a:t>in Cloud Networks Using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4747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 comprehensive research study exploring AI-driven methodologies for identifying</a:t>
            </a:r>
            <a:br/>
            <a:r>
              <a:t>and mitigating sophisticated cyber threats in cloud computing environments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4754880"/>
            <a:ext cx="2286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4892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D3EE"/>
                </a:solidFill>
                <a:latin typeface="Calibri"/>
              </a:defRPr>
            </a:pPr>
            <a:r>
              <a:t>71%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Organizations Hit by APTs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754880"/>
            <a:ext cx="2286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892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D3EE"/>
                </a:solidFill>
                <a:latin typeface="Calibri"/>
              </a:defRPr>
            </a:pPr>
            <a:r>
              <a:t>197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Avg. Days to Detect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4754880"/>
            <a:ext cx="22860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892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D3EE"/>
                </a:solidFill>
                <a:latin typeface="Calibri"/>
              </a:defRPr>
            </a:pPr>
            <a:r>
              <a:t>$4.9M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Avg. Breach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Calibri"/>
              </a:defRPr>
            </a:pPr>
            <a:r>
              <a:t>THREAT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Calibri"/>
              </a:defRPr>
            </a:pPr>
            <a:r>
              <a:t>What Are Advanced Persistent Threats?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APTs are prolonged, targeted cyberattacks where adversaries gain unauthorized network access and remain undetected for extended periods. They target high-value assets through sophisticated multi-stage campaigns.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Calibri"/>
              </a:defRPr>
            </a:pPr>
            <a:r>
              <a:t>  Stealthy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66F1"/>
                </a:solidFill>
                <a:latin typeface="Calibri"/>
              </a:defRPr>
            </a:pPr>
            <a:r>
              <a:t>  Persistent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Calibri"/>
              </a:defRPr>
            </a:pPr>
            <a:r>
              <a:t>  Targeted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CF6"/>
                </a:solidFill>
                <a:latin typeface="Calibri"/>
              </a:defRPr>
            </a:pPr>
            <a:r>
              <a:t>  Multi-Stage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alibri"/>
              </a:defRPr>
            </a:pPr>
            <a:r>
              <a:t>  Adaptive 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53035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Calibri"/>
              </a:defRPr>
            </a:pPr>
            <a:r>
              <a:t>Notable APT Groups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APT28 (Fancy Bear) - Russian state-sponsored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APT29 (Cozy Bear) - SolarWinds attack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Lazarus Group - North Korean operations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APT41 - Chinese dual espionage/cybercrime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5303520" cy="3017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Why Traditional Defenses Fail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6596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X  Signature-based IDS cannot detect zero-day exploits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X  Firewall rules bypassed via encrypted channels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X  Low-and-slow tactics evade threshold alerts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X  Lateral movement mimics legitimate traffic</a:t>
            </a:r>
          </a:p>
          <a:p>
            <a:pPr>
              <a:spcAft>
                <a:spcPts val="400"/>
              </a:spcAft>
              <a:defRPr sz="1100" b="0">
                <a:solidFill>
                  <a:srgbClr val="94A3B8"/>
                </a:solidFill>
                <a:latin typeface="Calibri"/>
              </a:defRPr>
            </a:pPr>
            <a:r>
              <a:t>X  Polymorphic malware evades static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46320"/>
            <a:ext cx="10972800" cy="1097280"/>
          </a:xfrm>
          <a:prstGeom prst="roundRect">
            <a:avLst/>
          </a:prstGeom>
          <a:solidFill>
            <a:srgbClr val="2D1B1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Calibri"/>
              </a:defRPr>
            </a:pPr>
            <a:r>
              <a:t>+150% Increase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 APT attacks on cloud infrastructure (2022-2024)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78BFA"/>
                </a:solidFill>
                <a:latin typeface="Calibri"/>
              </a:defRPr>
            </a:pPr>
            <a:r>
              <a:t>KILL CHAIN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Calibri"/>
              </a:defRPr>
            </a:pPr>
            <a:r>
              <a:t>APT Attack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Based on Lockheed Martin Cyber Kill Chain and MITRE ATT&amp;CK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011680"/>
            <a:ext cx="1508760" cy="640080"/>
          </a:xfrm>
          <a:prstGeom prst="roundRect">
            <a:avLst/>
          </a:prstGeom>
          <a:solidFill>
            <a:srgbClr val="3D1F1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Reconnaissance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29968" y="2011680"/>
            <a:ext cx="1508760" cy="640080"/>
          </a:xfrm>
          <a:prstGeom prst="roundRect">
            <a:avLst/>
          </a:prstGeom>
          <a:solidFill>
            <a:srgbClr val="3D2A1A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210312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B923C"/>
                </a:solidFill>
                <a:latin typeface="Calibri"/>
              </a:defRPr>
            </a:pPr>
            <a:r>
              <a:t>Weaponization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94176" y="2011680"/>
            <a:ext cx="1508760" cy="640080"/>
          </a:xfrm>
          <a:prstGeom prst="roundRect">
            <a:avLst/>
          </a:prstGeom>
          <a:solidFill>
            <a:srgbClr val="3D3A1A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210312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ACC15"/>
                </a:solidFill>
                <a:latin typeface="Calibri"/>
              </a:defRPr>
            </a:pPr>
            <a:r>
              <a:t>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1496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58384" y="2011680"/>
            <a:ext cx="1508760" cy="640080"/>
          </a:xfrm>
          <a:prstGeom prst="roundRect">
            <a:avLst/>
          </a:prstGeom>
          <a:solidFill>
            <a:srgbClr val="1A3D1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4" y="210312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Calibri"/>
              </a:defRPr>
            </a:pPr>
            <a:r>
              <a:t>Exploitation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5704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22592" y="2011680"/>
            <a:ext cx="1508760" cy="640080"/>
          </a:xfrm>
          <a:prstGeom prst="roundRect">
            <a:avLst/>
          </a:prstGeom>
          <a:solidFill>
            <a:srgbClr val="1A2E3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210312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Calibri"/>
              </a:defRPr>
            </a:pPr>
            <a:r>
              <a:t>Installation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011680"/>
            <a:ext cx="1508760" cy="640080"/>
          </a:xfrm>
          <a:prstGeom prst="roundRect">
            <a:avLst/>
          </a:prstGeom>
          <a:solidFill>
            <a:srgbClr val="1F1F3D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0" y="210312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18CF8"/>
                </a:solidFill>
                <a:latin typeface="Calibri"/>
              </a:defRPr>
            </a:pPr>
            <a: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2148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51008" y="2011680"/>
            <a:ext cx="1508760" cy="640080"/>
          </a:xfrm>
          <a:prstGeom prst="roundRect">
            <a:avLst/>
          </a:prstGeom>
          <a:solidFill>
            <a:srgbClr val="2A1F3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51008" y="210312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78BFA"/>
                </a:solidFill>
                <a:latin typeface="Calibri"/>
              </a:defRPr>
            </a:pPr>
            <a:r>
              <a:t>Exfiltration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017520"/>
            <a:ext cx="356616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4444"/>
                </a:solidFill>
                <a:latin typeface="Calibri"/>
              </a:defRPr>
            </a:pPr>
            <a:r>
              <a:t>Initial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749039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Spear phishing, supply chain compromise,</a:t>
            </a:r>
            <a:br/>
            <a:r>
              <a:t>zero-day exploits targeting cloud APIs</a:t>
            </a:r>
            <a:br/>
            <a:r>
              <a:t>and misconfigured services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6240" y="3017520"/>
            <a:ext cx="356616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66F1"/>
                </a:solidFill>
                <a:latin typeface="Calibri"/>
              </a:defRPr>
            </a:pPr>
            <a:r>
              <a:t>Persistence &amp; Lateral Movement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749039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Privilege escalation, credential harvesting,</a:t>
            </a:r>
            <a:br/>
            <a:r>
              <a:t>moving across cloud workloads</a:t>
            </a:r>
            <a:br/>
            <a:r>
              <a:t>and containers undetected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3017520"/>
            <a:ext cx="356616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Command &amp; Control + Exfiltration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749039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Encrypted C2 channels via legitimate</a:t>
            </a:r>
            <a:br/>
            <a:r>
              <a:t>cloud services (DNS tunneling, HTTPS</a:t>
            </a:r>
            <a:br/>
            <a:r>
              <a:t>beaconing), slow data exfiltration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Calibri"/>
              </a:defRPr>
            </a:pPr>
            <a:r>
              <a:t>CLOUD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Calibri"/>
              </a:defRPr>
            </a:pPr>
            <a:r>
              <a:t>Cloud-Specific Threat Vectors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Cloud environments introduce unique attack surfaces that APT actors actively exploit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54864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Cloud Attack Surfaces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API Exploitation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Misconfigured REST APIs, exposed credentials in metadata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Container Escape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Kubernetes vulnerabilities, Docker breakout to host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63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Identity Compromise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IAM role abuse, OAuth token theft, federation attacks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669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Serverless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436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Lambda/Function poisoning, event-driven trigger manipulation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20240"/>
            <a:ext cx="530352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Detection Challenges in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560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Multi-tenancy obscures attack attribution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175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Ephemeral workloads destroy forensic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74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Encrypted east-west traffic limits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Dynamic scaling creates baseline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389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  Shared responsibility model creates gaps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120640"/>
            <a:ext cx="5303520" cy="1188720"/>
          </a:xfrm>
          <a:prstGeom prst="roundRect">
            <a:avLst/>
          </a:prstGeom>
          <a:solidFill>
            <a:srgbClr val="1A2E3D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Cloud APT Statistics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6235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82%</a:t>
            </a:r>
            <a:br/>
            <a:r>
              <a:t>Breaches involve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5623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45%</a:t>
            </a:r>
            <a:br/>
            <a:r>
              <a:t>Cloud-native attacks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Calibri"/>
              </a:defRPr>
            </a:pPr>
            <a:r>
              <a:t>AI/ML Techniques for APT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Machine Learning and Deep Learning approaches for detecting sophisticated APT behaviors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356616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18CF8"/>
                </a:solidFill>
                <a:latin typeface="Calibri"/>
              </a:defRPr>
            </a:pPr>
            <a:r>
              <a:t>Supervised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Classification of known attack</a:t>
            </a:r>
            <a:br/>
            <a:r>
              <a:t>patterns from labeled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3832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C55E"/>
                </a:solidFill>
                <a:latin typeface="Calibri"/>
              </a:defRPr>
            </a:pPr>
            <a:r>
              <a:t>96.2%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57600"/>
            <a:ext cx="3200400" cy="10972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2814888" cy="109728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0233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C55E"/>
                </a:solidFill>
                <a:latin typeface="Calibri"/>
              </a:defRPr>
            </a:pPr>
            <a:r>
              <a:t>97.1%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97680"/>
            <a:ext cx="3200400" cy="10972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297680"/>
            <a:ext cx="2841223" cy="109728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SVM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663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C55E"/>
                </a:solidFill>
                <a:latin typeface="Calibri"/>
              </a:defRPr>
            </a:pPr>
            <a:r>
              <a:t>93.8%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37760"/>
            <a:ext cx="3200400" cy="10972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4937760"/>
            <a:ext cx="2744663" cy="109728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06240" y="1920240"/>
            <a:ext cx="356616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Unsupervised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Anomaly detection without</a:t>
            </a:r>
            <a:br/>
            <a:r>
              <a:t>labeled APT samples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Isolation Forest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3832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C55E"/>
                </a:solidFill>
                <a:latin typeface="Calibri"/>
              </a:defRPr>
            </a:pPr>
            <a:r>
              <a:t>91.5%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657600"/>
            <a:ext cx="3200400" cy="10972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89120" y="3657600"/>
            <a:ext cx="2677363" cy="10972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Autoencoders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0233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C55E"/>
                </a:solidFill>
                <a:latin typeface="Calibri"/>
              </a:defRPr>
            </a:pPr>
            <a:r>
              <a:t>94.3%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297680"/>
            <a:ext cx="3200400" cy="10972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89120" y="4297680"/>
            <a:ext cx="2759293" cy="10972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663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DBSCAN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63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C55E"/>
                </a:solidFill>
                <a:latin typeface="Calibri"/>
              </a:defRPr>
            </a:pPr>
            <a:r>
              <a:t>88.7%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4937760"/>
            <a:ext cx="3200400" cy="10972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89120" y="4937760"/>
            <a:ext cx="2595432" cy="109728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46720" y="1920240"/>
            <a:ext cx="356616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Reinforcement Learning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5603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Adaptive defense through</a:t>
            </a:r>
            <a:br/>
            <a:r>
              <a:t>continuous learning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DQN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33832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C55E"/>
                </a:solidFill>
                <a:latin typeface="Calibri"/>
              </a:defRPr>
            </a:pPr>
            <a:r>
              <a:t>89.4%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0" y="3657600"/>
            <a:ext cx="3200400" cy="10972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29600" y="3657600"/>
            <a:ext cx="2615915" cy="10972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4023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Policy Gradient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40233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C55E"/>
                </a:solidFill>
                <a:latin typeface="Calibri"/>
              </a:defRPr>
            </a:pPr>
            <a:r>
              <a:t>91.2%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4297680"/>
            <a:ext cx="3200400" cy="10972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229600" y="4297680"/>
            <a:ext cx="2668584" cy="10972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0" y="4663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Multi-Agent RL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46634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2C55E"/>
                </a:solidFill>
                <a:latin typeface="Calibri"/>
              </a:defRPr>
            </a:pPr>
            <a:r>
              <a:t>93.6%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0" y="4937760"/>
            <a:ext cx="3200400" cy="109728"/>
          </a:xfrm>
          <a:prstGeom prst="roundRect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229600" y="4937760"/>
            <a:ext cx="2738810" cy="10972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365760" y="6217920"/>
            <a:ext cx="11430000" cy="502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6263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18CF8"/>
                </a:solidFill>
                <a:latin typeface="Calibri"/>
              </a:defRPr>
            </a:pPr>
            <a:r>
              <a:t>Network Logs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60320" y="6263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0" y="6263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18CF8"/>
                </a:solidFill>
                <a:latin typeface="Calibri"/>
              </a:defRPr>
            </a:pPr>
            <a:r>
              <a:t>Feature Extraction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37760" y="6263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6263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18CF8"/>
                </a:solidFill>
                <a:latin typeface="Calibri"/>
              </a:defRPr>
            </a:pPr>
            <a:r>
              <a:t>AI/ML Model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6263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80960" y="6263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18CF8"/>
                </a:solidFill>
                <a:latin typeface="Calibri"/>
              </a:defRPr>
            </a:pPr>
            <a:r>
              <a:t>Threat Classification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92640" y="6263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58400" y="6263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18CF8"/>
                </a:solidFill>
                <a:latin typeface="Calibri"/>
              </a:defRPr>
            </a:pPr>
            <a:r>
              <a:t>Alert &amp; Response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18CF8"/>
                </a:solidFill>
                <a:latin typeface="Calibri"/>
              </a:defRPr>
            </a:pPr>
            <a:r>
              <a:t>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Calibri"/>
              </a:defRPr>
            </a:pPr>
            <a:r>
              <a:t>Advanced Deep Learning Architectures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State-of-the-art neural network architectures for APT detection in cloud environments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54864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Calibri"/>
              </a:defRPr>
            </a:pPr>
            <a:r>
              <a:t>CNN + LSTM Hybrid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Convolutional layers extract spatial features from network flow matrices while LSTM captures temporal attack sequences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Spatial Features | Temporal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200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98.3%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54864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D3EE"/>
                </a:solidFill>
                <a:latin typeface="Calibri"/>
              </a:defRPr>
            </a:pPr>
            <a:r>
              <a:t>Graph Neural Networks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Model cloud network topology as graphs; detect anomalous lateral movement and suspicious communication patterns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Topology-Aware | Relationship Mining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3200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96.7%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206240"/>
            <a:ext cx="54864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Transformer Models (LLM)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548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Attention mechanisms for long-range dependency modeling in system call sequences and log analysis (APT-LLM)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Self-Attention | Log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486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97.8%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206240"/>
            <a:ext cx="548640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72B6"/>
                </a:solidFill>
                <a:latin typeface="Calibri"/>
              </a:defRPr>
            </a:pPr>
            <a:r>
              <a:t>Generative Adversarial Networks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7548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GANs generate synthetic APT traffic for training data augmentation; Discriminator as anomaly detector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486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Data Augmentation | Anomaly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5486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2C55E"/>
                </a:solidFill>
                <a:latin typeface="Calibri"/>
              </a:defRPr>
            </a:pPr>
            <a:r>
              <a:t>95.2%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Calibri"/>
              </a:defRPr>
            </a:pPr>
            <a: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Calibri"/>
              </a:defRPr>
            </a:pPr>
            <a:r>
              <a:t>Key Research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Comprehensive review of state-of-the-art approaches in AI-based APT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11430000" cy="457200"/>
          </a:xfrm>
          <a:prstGeom prst="roundRect">
            <a:avLst/>
          </a:prstGeom>
          <a:solidFill>
            <a:srgbClr val="1E1F3D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18CF8"/>
                </a:solidFill>
                <a:latin typeface="Calibri"/>
              </a:defRPr>
            </a:pPr>
            <a:r>
              <a:t>Study /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18CF8"/>
                </a:solidFill>
                <a:latin typeface="Calibri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18CF8"/>
                </a:solidFill>
                <a:latin typeface="Calibri"/>
              </a:defRPr>
            </a:pPr>
            <a:r>
              <a:t>Focus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965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18CF8"/>
                </a:solidFill>
                <a:latin typeface="Calibri"/>
              </a:defRPr>
            </a:pPr>
            <a:r>
              <a:t>Key Finding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468880"/>
            <a:ext cx="11430000" cy="457200"/>
          </a:xfrm>
          <a:prstGeom prst="roundRect">
            <a:avLst/>
          </a:prstGeom>
          <a:solidFill>
            <a:srgbClr val="15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CMU SEI Report (2024)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14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AI/ML Survey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514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APT Defense Feasibility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Layered AI approach recommended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971800"/>
            <a:ext cx="11430000" cy="457200"/>
          </a:xfrm>
          <a:prstGeom prst="roundRect">
            <a:avLst/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APT-LLM (2025)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017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Large Language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017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Anomaly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LLM embeddings outperform traditional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474720"/>
            <a:ext cx="11430000" cy="457200"/>
          </a:xfrm>
          <a:prstGeom prst="roundRect">
            <a:avLst/>
          </a:prstGeom>
          <a:solidFill>
            <a:srgbClr val="15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RAPID (2024)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Context-Aware DL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Self-supervised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Adapts to dynamic system behavior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977640"/>
            <a:ext cx="11430000" cy="457200"/>
          </a:xfrm>
          <a:prstGeom prst="roundRect">
            <a:avLst/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023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Nature (2024)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023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Advanced Computing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Network Traffic Profiling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Behavioral APT profiles in traffic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480560"/>
            <a:ext cx="11430000" cy="457200"/>
          </a:xfrm>
          <a:prstGeom prst="roundRect">
            <a:avLst/>
          </a:prstGeom>
          <a:solidFill>
            <a:srgbClr val="15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DeepTaskAPT (2021)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LSTM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526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Insider Threat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526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Task-tree sequence modeling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" y="4983480"/>
            <a:ext cx="11430000" cy="457200"/>
          </a:xfrm>
          <a:prstGeom prst="roundRect">
            <a:avLst/>
          </a:prstGeom>
          <a:solidFill>
            <a:srgbClr val="12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Hybrid Ensemble (2025)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5029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Ensemble 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Network APT Detection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Optimized hybrid classifiers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5486400"/>
            <a:ext cx="11430000" cy="457200"/>
          </a:xfrm>
          <a:prstGeom prst="roundRect">
            <a:avLst/>
          </a:prstGeom>
          <a:solidFill>
            <a:srgbClr val="15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Cloud-Edge Synergy (2026)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5532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Graph Transformer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5532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Collaborative Detection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5532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Distributed cloud-edge framework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6035040"/>
            <a:ext cx="32004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6080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D3EE"/>
                </a:solidFill>
                <a:latin typeface="Calibri"/>
              </a:defRPr>
            </a:pPr>
            <a:r>
              <a:t>34+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400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IDS Models for Cloud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0" y="6035040"/>
            <a:ext cx="32004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0" y="6080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D3EE"/>
                </a:solidFill>
                <a:latin typeface="Calibri"/>
              </a:defRPr>
            </a:pPr>
            <a:r>
              <a:t>95%+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6400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Accuracy (Hybrid)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412480" y="6035040"/>
            <a:ext cx="3200400" cy="731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0" y="6080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D3EE"/>
                </a:solidFill>
                <a:latin typeface="Calibri"/>
              </a:defRPr>
            </a:pPr>
            <a:r>
              <a:t>2020-2026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6400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Research Timeline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Calibri"/>
              </a:defRPr>
            </a:pPr>
            <a:r>
              <a:t>CRITICAL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Calibri"/>
              </a:defRPr>
            </a:pPr>
            <a:r>
              <a:t>Identified Research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Key limitations in existing literature forming the basis for our proposed research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38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Lack of Cloud-Native APT Datasets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Most studies use generic IDS datasets (NSL-KDD, CICIDS) that don't reflect cloud-specific attack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017520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0358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B923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Limited Real-Time 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375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Deep learning models have high inference latency for high-throughput cloud environments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114800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1330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ACC15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Explainability Deficit (XAI)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Black-box AI models lack interpretability for SOC analysts; need for explainable threat attribution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212079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30367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120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Multi-Cloud &amp; Hybrid Environments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3211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Few studies address APT detection across multi-cloud or hybrid cloud-edge architectures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920240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93852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D3E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Adversarial Robustness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2402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ML models vulnerable to adversarial evasion; APT actors can craft traffic to fool detectors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017520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0358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18CF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Cross-Stage Correlation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3375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Limited work on correlating alerts across multiple kill chain stages for holistic detection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114800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13308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Federated &amp; Privacy-Preserving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4348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Collaborative threat intelligence without sharing sensitive cloud tenant data remains unsolved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5212079"/>
            <a:ext cx="365760" cy="365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5230367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472B6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2120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Concept Drift Handling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53211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APT tactics evolve rapidly; models degrade over time without continuous adaptation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" y="6309360"/>
            <a:ext cx="11430000" cy="457200"/>
          </a:xfrm>
          <a:prstGeom prst="roundRect">
            <a:avLst/>
          </a:prstGeom>
          <a:solidFill>
            <a:srgbClr val="2D1B1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3367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2E8F0"/>
                </a:solidFill>
                <a:latin typeface="Calibri"/>
              </a:defRPr>
            </a:pPr>
            <a:r>
              <a:t>Primary Opportunity: Explainable, real-time, cloud-native AI framework correlating multi-stage APT behaviors with adversarial robustness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C55E"/>
                </a:solidFill>
                <a:latin typeface="Calibri"/>
              </a:defRPr>
            </a:pPr>
            <a:r>
              <a:t>OUR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Calibri"/>
              </a:defRPr>
            </a:pPr>
            <a:r>
              <a:t>Proposed Research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 novel AI-driven framework addressing identified gaps for next-gen APT detection in cloud networks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920240"/>
            <a:ext cx="54864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Research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Design cloud-native AI architecture for real-time APT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Implement explainable multi-stage threat correlation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Address adversarial robustness against evasion attacks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Enable federated learning for privacy-preserving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Evaluate on realistic cloud APT scenarios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389120"/>
            <a:ext cx="54864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Phase 1: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Cloud APT dataset generation using MITRE ATT&amp;CK simulation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949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Phase 2: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Hybrid GNN + Transformer model development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760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Phase 3: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7607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XAI integration with SHAP/LIME explanations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126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Phase 4: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6126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Federated deployment across multi-cloud testbed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920240"/>
            <a:ext cx="53035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D3EE"/>
                </a:solidFill>
                <a:latin typeface="Calibri"/>
              </a:defRPr>
            </a:pPr>
            <a:r>
              <a:t>Expected Contributions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606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Novel Framework: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Cloud-native, explainable APT detection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063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New Dataset: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Realistic cloud APT attack dataset for community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520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Benchmark: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Comparison across 10+ state-of-the-art methods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97763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E8F0"/>
                </a:solidFill>
                <a:latin typeface="Calibri"/>
              </a:defRPr>
            </a:pPr>
            <a:r>
              <a:t>Open Source: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977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Reproducible implementation for research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754880"/>
            <a:ext cx="530352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937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Innovation Highlights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394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Calibri"/>
              </a:defRPr>
            </a:pPr>
            <a:r>
              <a:t>Graph Transformers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5394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Calibri"/>
              </a:defRPr>
            </a:pPr>
            <a:r>
              <a:t>Federated Learning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53949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Calibri"/>
              </a:defRPr>
            </a:pPr>
            <a:r>
              <a:t>Explainable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852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Calibri"/>
              </a:defRPr>
            </a:pPr>
            <a:r>
              <a:t>Cloud-Native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5852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Calibri"/>
              </a:defRPr>
            </a:pPr>
            <a:r>
              <a:t>Adversarial Training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58521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2D3EE"/>
                </a:solidFill>
                <a:latin typeface="Calibri"/>
              </a:defRPr>
            </a:pPr>
            <a:r>
              <a:t>Kill Chain Mapping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6366F1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18CF8"/>
                </a:solidFill>
                <a:latin typeface="Calibri"/>
              </a:defRPr>
            </a:pPr>
            <a:r>
              <a:t>BIBLIOGRAPHY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Calibri"/>
              </a:defRPr>
            </a:pPr>
            <a:r>
              <a:t>Key References &amp; Resources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5669280" cy="713232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[1] CMU SEI (2024) - Toward the Use of AI for APT Detection</a:t>
            </a:r>
            <a:br/>
            <a:r>
              <a:t>     https://sei.cmu.edu/library/toward-the-use-of-artificial-intelligence-ai-for-advanced-persistent-threat-detection/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48840"/>
            <a:ext cx="5669280" cy="713232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[2] Arxiv (2025) - APT-LLM: Embedding-Based Anomaly Detection Using LLMs</a:t>
            </a:r>
            <a:br/>
            <a:r>
              <a:t>     https://arxiv.org/html/2502.09385v1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926080"/>
            <a:ext cx="5669280" cy="713232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[3] Arxiv (2024) - RAPID: Context-Aware Deep Learning for Robust APT Detection</a:t>
            </a:r>
            <a:br/>
            <a:r>
              <a:t>     https://arxiv.org/abs/2406.05362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703320"/>
            <a:ext cx="5669280" cy="713232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[4] Nature Scientific Reports (2024) - Novel Approach for APT Detection</a:t>
            </a:r>
            <a:br/>
            <a:r>
              <a:t>     https://www.nature.com/articles/s41598-024-72957-0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480560"/>
            <a:ext cx="5669280" cy="713232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262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[5] Springer (2024) - Explainable Deep Learning for APTs: A Review</a:t>
            </a:r>
            <a:br/>
            <a:r>
              <a:t>     https://link.springer.com/article/10.1007/s10462-024-10890-4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257800"/>
            <a:ext cx="5669280" cy="713232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3035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[6] Oxford Academic (2024) - SLR on APT Behaviors and Detection Strategy</a:t>
            </a:r>
            <a:br/>
            <a:r>
              <a:t>     https://academic.oup.com/cybersecurity/article/10/1/tyad023/7504935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371600"/>
            <a:ext cx="5669280" cy="713232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4173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[7] ACM (2024) - APT Detection Systems: Review of Approaches &amp; Trends</a:t>
            </a:r>
            <a:br/>
            <a:r>
              <a:t>     https://dl.acm.org/doi/10.1145/3696014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148840"/>
            <a:ext cx="5669280" cy="713232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[8] Journal of Big Data (2025) - Hybrid Ensemble ML for Detecting APTs</a:t>
            </a:r>
            <a:br/>
            <a:r>
              <a:t>     https://journalofbigdata.springeropen.com/articles/10.1186/s40537-025-01272-w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926080"/>
            <a:ext cx="5669280" cy="713232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9718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[9] Springer (2026) - Collaborative APT Detection: Cloud-Edge Graph Transformer</a:t>
            </a:r>
            <a:br/>
            <a:r>
              <a:t>     https://link.springer.com/article/10.1186/s13677-026-00940-3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703320"/>
            <a:ext cx="5669280" cy="713232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7490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[10] Journal of Big Data (2024) - AI-Driven Detection Techniques Review</a:t>
            </a:r>
            <a:br/>
            <a:r>
              <a:t>      https://journalofbigdata.springeropen.com/articles/10.1186/s40537-024-00957-y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480560"/>
            <a:ext cx="5669280" cy="713232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52628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[11] ResearchGate (2024) - APT Attribution Using Deep Reinforcement Learning</a:t>
            </a:r>
            <a:br/>
            <a:r>
              <a:t>      https://www.researchgate.net/publication/384937397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5257800"/>
            <a:ext cx="5669280" cy="713232"/>
          </a:xfrm>
          <a:prstGeom prst="roundRect">
            <a:avLst/>
          </a:prstGeom>
          <a:solidFill>
            <a:srgbClr val="151D2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53035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Calibri"/>
              </a:defRPr>
            </a:pPr>
            <a:r>
              <a:t>[12] ResearchGate (2025) - AI-Powered Real-time Threat Detection in Cloud</a:t>
            </a:r>
            <a:br/>
            <a:r>
              <a:t>      https://www.researchgate.net/publication/391269229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309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