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0" y="2286000"/>
            <a:ext cx="3657600" cy="3657600"/>
          </a:xfrm>
          <a:prstGeom prst="ellipse">
            <a:avLst/>
          </a:prstGeom>
          <a:solidFill>
            <a:srgbClr val="7C3AED">
              <a:alpha val="6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640080"/>
            <a:ext cx="7315200" cy="320040"/>
          </a:xfrm>
          <a:prstGeom prst="rect">
            <a:avLst/>
          </a:prstGeom>
          <a:noFill/>
        </p:spPr>
        <p:txBody>
          <a:bodyPr wrap="square">
            <a:spAutoFit/>
          </a:bodyPr>
          <a:lstStyle/>
          <a:p>
            <a:pPr algn="ctr">
              <a:defRPr sz="900" b="1">
                <a:solidFill>
                  <a:srgbClr val="60A5FA"/>
                </a:solidFill>
                <a:latin typeface="Calibri"/>
              </a:defRPr>
            </a:pPr>
            <a:r>
              <a:t>ACTIVITY 1: RESEARCH METHODOLOGY SELECTION</a:t>
            </a:r>
          </a:p>
        </p:txBody>
      </p:sp>
      <p:sp>
        <p:nvSpPr>
          <p:cNvPr id="6" name="TextBox 5"/>
          <p:cNvSpPr txBox="1"/>
          <p:nvPr/>
        </p:nvSpPr>
        <p:spPr>
          <a:xfrm>
            <a:off x="1371600" y="1188720"/>
            <a:ext cx="9418320" cy="1371600"/>
          </a:xfrm>
          <a:prstGeom prst="rect">
            <a:avLst/>
          </a:prstGeom>
          <a:noFill/>
        </p:spPr>
        <p:txBody>
          <a:bodyPr wrap="square">
            <a:spAutoFit/>
          </a:bodyPr>
          <a:lstStyle/>
          <a:p>
            <a:pPr algn="ctr">
              <a:defRPr sz="3200" b="1">
                <a:solidFill>
                  <a:srgbClr val="F1F5F9"/>
                </a:solidFill>
                <a:latin typeface="Calibri"/>
              </a:defRPr>
            </a:pPr>
            <a:r>
              <a:t>Choosing the Right Research Methodology</a:t>
            </a:r>
          </a:p>
        </p:txBody>
      </p:sp>
      <p:sp>
        <p:nvSpPr>
          <p:cNvPr id="7" name="TextBox 6"/>
          <p:cNvSpPr txBox="1"/>
          <p:nvPr/>
        </p:nvSpPr>
        <p:spPr>
          <a:xfrm>
            <a:off x="1645920" y="2560320"/>
            <a:ext cx="8869680" cy="1371600"/>
          </a:xfrm>
          <a:prstGeom prst="rect">
            <a:avLst/>
          </a:prstGeom>
          <a:noFill/>
        </p:spPr>
        <p:txBody>
          <a:bodyPr wrap="square">
            <a:spAutoFit/>
          </a:bodyPr>
          <a:lstStyle/>
          <a:p>
            <a:pPr algn="ctr">
              <a:defRPr sz="1300" b="0">
                <a:solidFill>
                  <a:srgbClr val="CBD5E1"/>
                </a:solidFill>
                <a:latin typeface="Calibri"/>
              </a:defRPr>
            </a:pPr>
            <a:r>
              <a:t>For our study on detecting Advanced Persistent Threats in cloud networks through artificial intelligence, we need a methodology that allows us to measure, test, and validate system performance in a structured way.</a:t>
            </a:r>
          </a:p>
        </p:txBody>
      </p:sp>
      <p:sp>
        <p:nvSpPr>
          <p:cNvPr id="8" name="Rounded Rectangle 7"/>
          <p:cNvSpPr/>
          <p:nvPr/>
        </p:nvSpPr>
        <p:spPr>
          <a:xfrm>
            <a:off x="457200" y="3931920"/>
            <a:ext cx="5486400" cy="246888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114800"/>
            <a:ext cx="4937760" cy="365760"/>
          </a:xfrm>
          <a:prstGeom prst="rect">
            <a:avLst/>
          </a:prstGeom>
          <a:noFill/>
        </p:spPr>
        <p:txBody>
          <a:bodyPr wrap="square">
            <a:spAutoFit/>
          </a:bodyPr>
          <a:lstStyle/>
          <a:p>
            <a:pPr algn="l">
              <a:defRPr sz="1300" b="1">
                <a:solidFill>
                  <a:srgbClr val="60A5FA"/>
                </a:solidFill>
                <a:latin typeface="Calibri"/>
              </a:defRPr>
            </a:pPr>
            <a:r>
              <a:t>Our Research Topic</a:t>
            </a:r>
          </a:p>
        </p:txBody>
      </p:sp>
      <p:sp>
        <p:nvSpPr>
          <p:cNvPr id="10" name="TextBox 9"/>
          <p:cNvSpPr txBox="1"/>
          <p:nvPr/>
        </p:nvSpPr>
        <p:spPr>
          <a:xfrm>
            <a:off x="731520" y="4572000"/>
            <a:ext cx="4937760" cy="1828800"/>
          </a:xfrm>
          <a:prstGeom prst="rect">
            <a:avLst/>
          </a:prstGeom>
          <a:noFill/>
        </p:spPr>
        <p:txBody>
          <a:bodyPr wrap="square">
            <a:spAutoFit/>
          </a:bodyPr>
          <a:lstStyle/>
          <a:p>
            <a:pPr algn="l">
              <a:defRPr sz="1000" b="0">
                <a:solidFill>
                  <a:srgbClr val="94A3B8"/>
                </a:solidFill>
                <a:latin typeface="Calibri"/>
              </a:defRPr>
            </a:pPr>
            <a:r>
              <a:t>We are building an AI-based detection system that identifies sophisticated, multi-stage cyberattacks in cloud environments. The work involves training machine learning models on network traffic, testing against known attack scenarios, and measuring performance against existing tools. This is fundamentally an engineering and experimental problem requiring numerical evidence.</a:t>
            </a:r>
          </a:p>
        </p:txBody>
      </p:sp>
      <p:sp>
        <p:nvSpPr>
          <p:cNvPr id="11" name="Rounded Rectangle 10"/>
          <p:cNvSpPr/>
          <p:nvPr/>
        </p:nvSpPr>
        <p:spPr>
          <a:xfrm>
            <a:off x="6217920" y="3931920"/>
            <a:ext cx="5486400" cy="2468880"/>
          </a:xfrm>
          <a:prstGeom prst="roundRect">
            <a:avLst/>
          </a:prstGeom>
          <a:solidFill>
            <a:srgbClr val="1E293B"/>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114800"/>
            <a:ext cx="4937760" cy="365760"/>
          </a:xfrm>
          <a:prstGeom prst="rect">
            <a:avLst/>
          </a:prstGeom>
          <a:noFill/>
        </p:spPr>
        <p:txBody>
          <a:bodyPr wrap="square">
            <a:spAutoFit/>
          </a:bodyPr>
          <a:lstStyle/>
          <a:p>
            <a:pPr algn="l">
              <a:defRPr sz="1300" b="1">
                <a:solidFill>
                  <a:srgbClr val="22D3EE"/>
                </a:solidFill>
                <a:latin typeface="Calibri"/>
              </a:defRPr>
            </a:pPr>
            <a:r>
              <a:t>What We Need From a Methodology</a:t>
            </a:r>
          </a:p>
        </p:txBody>
      </p:sp>
      <p:sp>
        <p:nvSpPr>
          <p:cNvPr id="13" name="TextBox 12"/>
          <p:cNvSpPr txBox="1"/>
          <p:nvPr/>
        </p:nvSpPr>
        <p:spPr>
          <a:xfrm>
            <a:off x="6675120" y="4663440"/>
            <a:ext cx="4754880" cy="365760"/>
          </a:xfrm>
          <a:prstGeom prst="rect">
            <a:avLst/>
          </a:prstGeom>
          <a:noFill/>
        </p:spPr>
        <p:txBody>
          <a:bodyPr wrap="square">
            <a:spAutoFit/>
          </a:bodyPr>
          <a:lstStyle/>
          <a:p>
            <a:pPr algn="l">
              <a:defRPr sz="1000" b="0">
                <a:solidFill>
                  <a:srgbClr val="94A3B8"/>
                </a:solidFill>
                <a:latin typeface="Calibri"/>
              </a:defRPr>
            </a:pPr>
            <a:r>
              <a:t>  Run controlled experiments with measurable outcomes</a:t>
            </a:r>
          </a:p>
        </p:txBody>
      </p:sp>
      <p:sp>
        <p:nvSpPr>
          <p:cNvPr id="14" name="TextBox 13"/>
          <p:cNvSpPr txBox="1"/>
          <p:nvPr/>
        </p:nvSpPr>
        <p:spPr>
          <a:xfrm>
            <a:off x="6675120" y="5074920"/>
            <a:ext cx="4754880" cy="365760"/>
          </a:xfrm>
          <a:prstGeom prst="rect">
            <a:avLst/>
          </a:prstGeom>
          <a:noFill/>
        </p:spPr>
        <p:txBody>
          <a:bodyPr wrap="square">
            <a:spAutoFit/>
          </a:bodyPr>
          <a:lstStyle/>
          <a:p>
            <a:pPr algn="l">
              <a:defRPr sz="1000" b="0">
                <a:solidFill>
                  <a:srgbClr val="94A3B8"/>
                </a:solidFill>
                <a:latin typeface="Calibri"/>
              </a:defRPr>
            </a:pPr>
            <a:r>
              <a:t>  Statistical tools to compare AI models objectively</a:t>
            </a:r>
          </a:p>
        </p:txBody>
      </p:sp>
      <p:sp>
        <p:nvSpPr>
          <p:cNvPr id="15" name="TextBox 14"/>
          <p:cNvSpPr txBox="1"/>
          <p:nvPr/>
        </p:nvSpPr>
        <p:spPr>
          <a:xfrm>
            <a:off x="6675120" y="5486400"/>
            <a:ext cx="4754880" cy="365760"/>
          </a:xfrm>
          <a:prstGeom prst="rect">
            <a:avLst/>
          </a:prstGeom>
          <a:noFill/>
        </p:spPr>
        <p:txBody>
          <a:bodyPr wrap="square">
            <a:spAutoFit/>
          </a:bodyPr>
          <a:lstStyle/>
          <a:p>
            <a:pPr algn="l">
              <a:defRPr sz="1000" b="0">
                <a:solidFill>
                  <a:srgbClr val="94A3B8"/>
                </a:solidFill>
                <a:latin typeface="Calibri"/>
              </a:defRPr>
            </a:pPr>
            <a:r>
              <a:t>  Clear, reproducible results others can verify</a:t>
            </a:r>
          </a:p>
        </p:txBody>
      </p:sp>
      <p:sp>
        <p:nvSpPr>
          <p:cNvPr id="16" name="TextBox 15"/>
          <p:cNvSpPr txBox="1"/>
          <p:nvPr/>
        </p:nvSpPr>
        <p:spPr>
          <a:xfrm>
            <a:off x="6675120" y="5897879"/>
            <a:ext cx="4754880" cy="365760"/>
          </a:xfrm>
          <a:prstGeom prst="rect">
            <a:avLst/>
          </a:prstGeom>
          <a:noFill/>
        </p:spPr>
        <p:txBody>
          <a:bodyPr wrap="square">
            <a:spAutoFit/>
          </a:bodyPr>
          <a:lstStyle/>
          <a:p>
            <a:pPr algn="l">
              <a:defRPr sz="1000" b="0">
                <a:solidFill>
                  <a:srgbClr val="94A3B8"/>
                </a:solidFill>
                <a:latin typeface="Calibri"/>
              </a:defRPr>
            </a:pPr>
            <a:r>
              <a:t>  Structured approach to testing detection hypotheses</a:t>
            </a:r>
          </a:p>
        </p:txBody>
      </p:sp>
      <p:sp>
        <p:nvSpPr>
          <p:cNvPr id="17" name="TextBox 16"/>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2743200" cy="274320"/>
          </a:xfrm>
          <a:prstGeom prst="rect">
            <a:avLst/>
          </a:prstGeom>
          <a:noFill/>
        </p:spPr>
        <p:txBody>
          <a:bodyPr wrap="square">
            <a:spAutoFit/>
          </a:bodyPr>
          <a:lstStyle/>
          <a:p>
            <a:pPr algn="l">
              <a:defRPr sz="900" b="1">
                <a:solidFill>
                  <a:srgbClr val="A78BFA"/>
                </a:solidFill>
                <a:latin typeface="Calibri"/>
              </a:defRPr>
            </a:pPr>
            <a:r>
              <a:t>COMPARING APPROACHES</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1F5F9"/>
                </a:solidFill>
                <a:latin typeface="Calibri"/>
              </a:defRPr>
            </a:pPr>
            <a:r>
              <a:t>Qualitative vs. Quantitative vs. Mixed Methods</a:t>
            </a:r>
          </a:p>
        </p:txBody>
      </p:sp>
      <p:sp>
        <p:nvSpPr>
          <p:cNvPr id="6" name="TextBox 5"/>
          <p:cNvSpPr txBox="1"/>
          <p:nvPr/>
        </p:nvSpPr>
        <p:spPr>
          <a:xfrm>
            <a:off x="548640" y="1371600"/>
            <a:ext cx="9144000" cy="365760"/>
          </a:xfrm>
          <a:prstGeom prst="rect">
            <a:avLst/>
          </a:prstGeom>
          <a:noFill/>
        </p:spPr>
        <p:txBody>
          <a:bodyPr wrap="square">
            <a:spAutoFit/>
          </a:bodyPr>
          <a:lstStyle/>
          <a:p>
            <a:pPr algn="l">
              <a:defRPr sz="1100" b="0">
                <a:solidFill>
                  <a:srgbClr val="94A3B8"/>
                </a:solidFill>
                <a:latin typeface="Calibri"/>
              </a:defRPr>
            </a:pPr>
            <a:r>
              <a:t>Understanding what each methodology offers and where it falls short for our research problem.</a:t>
            </a:r>
          </a:p>
        </p:txBody>
      </p:sp>
      <p:sp>
        <p:nvSpPr>
          <p:cNvPr id="7" name="Rounded Rectangle 6"/>
          <p:cNvSpPr/>
          <p:nvPr/>
        </p:nvSpPr>
        <p:spPr>
          <a:xfrm>
            <a:off x="365760" y="1920240"/>
            <a:ext cx="3566160" cy="4754880"/>
          </a:xfrm>
          <a:prstGeom prst="roundRect">
            <a:avLst/>
          </a:prstGeom>
          <a:solidFill>
            <a:srgbClr val="1E293B"/>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3200400" cy="365760"/>
          </a:xfrm>
          <a:prstGeom prst="rect">
            <a:avLst/>
          </a:prstGeom>
          <a:noFill/>
        </p:spPr>
        <p:txBody>
          <a:bodyPr wrap="square">
            <a:spAutoFit/>
          </a:bodyPr>
          <a:lstStyle/>
          <a:p>
            <a:pPr algn="l">
              <a:defRPr sz="1400" b="1">
                <a:solidFill>
                  <a:srgbClr val="A78BFA"/>
                </a:solidFill>
                <a:latin typeface="Calibri"/>
              </a:defRPr>
            </a:pPr>
            <a:r>
              <a:t>Qualitative</a:t>
            </a:r>
          </a:p>
        </p:txBody>
      </p:sp>
      <p:sp>
        <p:nvSpPr>
          <p:cNvPr id="9" name="TextBox 8"/>
          <p:cNvSpPr txBox="1"/>
          <p:nvPr/>
        </p:nvSpPr>
        <p:spPr>
          <a:xfrm>
            <a:off x="548640" y="2560320"/>
            <a:ext cx="3200400" cy="914400"/>
          </a:xfrm>
          <a:prstGeom prst="rect">
            <a:avLst/>
          </a:prstGeom>
          <a:noFill/>
        </p:spPr>
        <p:txBody>
          <a:bodyPr wrap="square">
            <a:spAutoFit/>
          </a:bodyPr>
          <a:lstStyle/>
          <a:p>
            <a:pPr algn="l">
              <a:defRPr sz="900" b="0">
                <a:solidFill>
                  <a:srgbClr val="94A3B8"/>
                </a:solidFill>
                <a:latin typeface="Calibri"/>
              </a:defRPr>
            </a:pPr>
            <a:r>
              <a:t>Focuses on understanding experiences and meanings through interviews and thematic analysis.</a:t>
            </a:r>
          </a:p>
        </p:txBody>
      </p:sp>
      <p:sp>
        <p:nvSpPr>
          <p:cNvPr id="10" name="TextBox 9"/>
          <p:cNvSpPr txBox="1"/>
          <p:nvPr/>
        </p:nvSpPr>
        <p:spPr>
          <a:xfrm>
            <a:off x="548640" y="3474720"/>
            <a:ext cx="3200400" cy="274320"/>
          </a:xfrm>
          <a:prstGeom prst="rect">
            <a:avLst/>
          </a:prstGeom>
          <a:noFill/>
        </p:spPr>
        <p:txBody>
          <a:bodyPr wrap="square">
            <a:spAutoFit/>
          </a:bodyPr>
          <a:lstStyle/>
          <a:p>
            <a:pPr algn="l">
              <a:defRPr sz="800" b="1">
                <a:solidFill>
                  <a:srgbClr val="34D399"/>
                </a:solidFill>
                <a:latin typeface="Calibri"/>
              </a:defRPr>
            </a:pPr>
            <a:r>
              <a:t>WHEN IT WORKS</a:t>
            </a:r>
          </a:p>
        </p:txBody>
      </p:sp>
      <p:sp>
        <p:nvSpPr>
          <p:cNvPr id="11" name="TextBox 10"/>
          <p:cNvSpPr txBox="1"/>
          <p:nvPr/>
        </p:nvSpPr>
        <p:spPr>
          <a:xfrm>
            <a:off x="548640" y="3749039"/>
            <a:ext cx="3200400" cy="822960"/>
          </a:xfrm>
          <a:prstGeom prst="rect">
            <a:avLst/>
          </a:prstGeom>
          <a:noFill/>
        </p:spPr>
        <p:txBody>
          <a:bodyPr wrap="square">
            <a:spAutoFit/>
          </a:bodyPr>
          <a:lstStyle/>
          <a:p>
            <a:pPr algn="l">
              <a:defRPr sz="900" b="0">
                <a:solidFill>
                  <a:srgbClr val="94A3B8"/>
                </a:solidFill>
                <a:latin typeface="Calibri"/>
              </a:defRPr>
            </a:pPr>
            <a:r>
              <a:t>Exploring how security analysts perceive and respond to threats.</a:t>
            </a:r>
          </a:p>
        </p:txBody>
      </p:sp>
      <p:sp>
        <p:nvSpPr>
          <p:cNvPr id="12" name="TextBox 11"/>
          <p:cNvSpPr txBox="1"/>
          <p:nvPr/>
        </p:nvSpPr>
        <p:spPr>
          <a:xfrm>
            <a:off x="548640" y="4663440"/>
            <a:ext cx="3200400" cy="274320"/>
          </a:xfrm>
          <a:prstGeom prst="rect">
            <a:avLst/>
          </a:prstGeom>
          <a:noFill/>
        </p:spPr>
        <p:txBody>
          <a:bodyPr wrap="square">
            <a:spAutoFit/>
          </a:bodyPr>
          <a:lstStyle/>
          <a:p>
            <a:pPr algn="l">
              <a:defRPr sz="800" b="1">
                <a:solidFill>
                  <a:srgbClr val="DC2626"/>
                </a:solidFill>
                <a:latin typeface="Calibri"/>
              </a:defRPr>
            </a:pPr>
            <a:r>
              <a:t>WHY NOT FOR US</a:t>
            </a:r>
          </a:p>
        </p:txBody>
      </p:sp>
      <p:sp>
        <p:nvSpPr>
          <p:cNvPr id="13" name="TextBox 12"/>
          <p:cNvSpPr txBox="1"/>
          <p:nvPr/>
        </p:nvSpPr>
        <p:spPr>
          <a:xfrm>
            <a:off x="548640" y="4937760"/>
            <a:ext cx="3200400" cy="822960"/>
          </a:xfrm>
          <a:prstGeom prst="rect">
            <a:avLst/>
          </a:prstGeom>
          <a:noFill/>
        </p:spPr>
        <p:txBody>
          <a:bodyPr wrap="square">
            <a:spAutoFit/>
          </a:bodyPr>
          <a:lstStyle/>
          <a:p>
            <a:pPr algn="l">
              <a:defRPr sz="900" b="0">
                <a:solidFill>
                  <a:srgbClr val="94A3B8"/>
                </a:solidFill>
                <a:latin typeface="Calibri"/>
              </a:defRPr>
            </a:pPr>
            <a:r>
              <a:t>We need hard numbers on detection rates, not subjective interpretation.</a:t>
            </a:r>
          </a:p>
        </p:txBody>
      </p:sp>
      <p:sp>
        <p:nvSpPr>
          <p:cNvPr id="14" name="Rounded Rectangle 13"/>
          <p:cNvSpPr/>
          <p:nvPr/>
        </p:nvSpPr>
        <p:spPr>
          <a:xfrm>
            <a:off x="4206240" y="1920240"/>
            <a:ext cx="3566160" cy="475488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103120"/>
            <a:ext cx="3200400" cy="365760"/>
          </a:xfrm>
          <a:prstGeom prst="rect">
            <a:avLst/>
          </a:prstGeom>
          <a:noFill/>
        </p:spPr>
        <p:txBody>
          <a:bodyPr wrap="square">
            <a:spAutoFit/>
          </a:bodyPr>
          <a:lstStyle/>
          <a:p>
            <a:pPr algn="l">
              <a:defRPr sz="1400" b="1">
                <a:solidFill>
                  <a:srgbClr val="60A5FA"/>
                </a:solidFill>
                <a:latin typeface="Calibri"/>
              </a:defRPr>
            </a:pPr>
            <a:r>
              <a:t>Quantitative</a:t>
            </a:r>
          </a:p>
        </p:txBody>
      </p:sp>
      <p:sp>
        <p:nvSpPr>
          <p:cNvPr id="16" name="TextBox 15"/>
          <p:cNvSpPr txBox="1"/>
          <p:nvPr/>
        </p:nvSpPr>
        <p:spPr>
          <a:xfrm>
            <a:off x="6492240" y="2148840"/>
            <a:ext cx="1097280" cy="274320"/>
          </a:xfrm>
          <a:prstGeom prst="rect">
            <a:avLst/>
          </a:prstGeom>
          <a:noFill/>
        </p:spPr>
        <p:txBody>
          <a:bodyPr wrap="square">
            <a:spAutoFit/>
          </a:bodyPr>
          <a:lstStyle/>
          <a:p>
            <a:pPr algn="l">
              <a:defRPr sz="700" b="1">
                <a:solidFill>
                  <a:srgbClr val="34D399"/>
                </a:solidFill>
                <a:latin typeface="Calibri"/>
              </a:defRPr>
            </a:pPr>
            <a:r>
              <a:t>SELECTED</a:t>
            </a:r>
          </a:p>
        </p:txBody>
      </p:sp>
      <p:sp>
        <p:nvSpPr>
          <p:cNvPr id="17" name="TextBox 16"/>
          <p:cNvSpPr txBox="1"/>
          <p:nvPr/>
        </p:nvSpPr>
        <p:spPr>
          <a:xfrm>
            <a:off x="4389120" y="2560320"/>
            <a:ext cx="3200400" cy="914400"/>
          </a:xfrm>
          <a:prstGeom prst="rect">
            <a:avLst/>
          </a:prstGeom>
          <a:noFill/>
        </p:spPr>
        <p:txBody>
          <a:bodyPr wrap="square">
            <a:spAutoFit/>
          </a:bodyPr>
          <a:lstStyle/>
          <a:p>
            <a:pPr algn="l">
              <a:defRPr sz="900" b="0">
                <a:solidFill>
                  <a:srgbClr val="94A3B8"/>
                </a:solidFill>
                <a:latin typeface="Calibri"/>
              </a:defRPr>
            </a:pPr>
            <a:r>
              <a:t>Relies on numerical data, statistical analysis, and measurable variables. Tests hypotheses.</a:t>
            </a:r>
          </a:p>
        </p:txBody>
      </p:sp>
      <p:sp>
        <p:nvSpPr>
          <p:cNvPr id="18" name="TextBox 17"/>
          <p:cNvSpPr txBox="1"/>
          <p:nvPr/>
        </p:nvSpPr>
        <p:spPr>
          <a:xfrm>
            <a:off x="4389120" y="3474720"/>
            <a:ext cx="3200400" cy="274320"/>
          </a:xfrm>
          <a:prstGeom prst="rect">
            <a:avLst/>
          </a:prstGeom>
          <a:noFill/>
        </p:spPr>
        <p:txBody>
          <a:bodyPr wrap="square">
            <a:spAutoFit/>
          </a:bodyPr>
          <a:lstStyle/>
          <a:p>
            <a:pPr algn="l">
              <a:defRPr sz="800" b="1">
                <a:solidFill>
                  <a:srgbClr val="34D399"/>
                </a:solidFill>
                <a:latin typeface="Calibri"/>
              </a:defRPr>
            </a:pPr>
            <a:r>
              <a:t>WHY IT FITS</a:t>
            </a:r>
          </a:p>
        </p:txBody>
      </p:sp>
      <p:sp>
        <p:nvSpPr>
          <p:cNvPr id="19" name="TextBox 18"/>
          <p:cNvSpPr txBox="1"/>
          <p:nvPr/>
        </p:nvSpPr>
        <p:spPr>
          <a:xfrm>
            <a:off x="4389120" y="3749039"/>
            <a:ext cx="3200400" cy="822960"/>
          </a:xfrm>
          <a:prstGeom prst="rect">
            <a:avLst/>
          </a:prstGeom>
          <a:noFill/>
        </p:spPr>
        <p:txBody>
          <a:bodyPr wrap="square">
            <a:spAutoFit/>
          </a:bodyPr>
          <a:lstStyle/>
          <a:p>
            <a:pPr algn="l">
              <a:defRPr sz="900" b="0">
                <a:solidFill>
                  <a:srgbClr val="94A3B8"/>
                </a:solidFill>
                <a:latin typeface="Calibri"/>
              </a:defRPr>
            </a:pPr>
            <a:r>
              <a:t>Our entire research revolves around measuring accuracy, comparing algorithms statistically.</a:t>
            </a:r>
          </a:p>
        </p:txBody>
      </p:sp>
      <p:sp>
        <p:nvSpPr>
          <p:cNvPr id="20" name="TextBox 19"/>
          <p:cNvSpPr txBox="1"/>
          <p:nvPr/>
        </p:nvSpPr>
        <p:spPr>
          <a:xfrm>
            <a:off x="4389120" y="4663440"/>
            <a:ext cx="3200400" cy="274320"/>
          </a:xfrm>
          <a:prstGeom prst="rect">
            <a:avLst/>
          </a:prstGeom>
          <a:noFill/>
        </p:spPr>
        <p:txBody>
          <a:bodyPr wrap="square">
            <a:spAutoFit/>
          </a:bodyPr>
          <a:lstStyle/>
          <a:p>
            <a:pPr algn="l">
              <a:defRPr sz="800" b="1">
                <a:solidFill>
                  <a:srgbClr val="D97706"/>
                </a:solidFill>
                <a:latin typeface="Calibri"/>
              </a:defRPr>
            </a:pPr>
            <a:r>
              <a:t>LIMITATION</a:t>
            </a:r>
          </a:p>
        </p:txBody>
      </p:sp>
      <p:sp>
        <p:nvSpPr>
          <p:cNvPr id="21" name="TextBox 20"/>
          <p:cNvSpPr txBox="1"/>
          <p:nvPr/>
        </p:nvSpPr>
        <p:spPr>
          <a:xfrm>
            <a:off x="4389120" y="4937760"/>
            <a:ext cx="3200400" cy="822960"/>
          </a:xfrm>
          <a:prstGeom prst="rect">
            <a:avLst/>
          </a:prstGeom>
          <a:noFill/>
        </p:spPr>
        <p:txBody>
          <a:bodyPr wrap="square">
            <a:spAutoFit/>
          </a:bodyPr>
          <a:lstStyle/>
          <a:p>
            <a:pPr algn="l">
              <a:defRPr sz="900" b="0">
                <a:solidFill>
                  <a:srgbClr val="94A3B8"/>
                </a:solidFill>
                <a:latin typeface="Calibri"/>
              </a:defRPr>
            </a:pPr>
            <a:r>
              <a:t>Does not capture human factors. We accept this since our focus is the AI system.</a:t>
            </a:r>
          </a:p>
        </p:txBody>
      </p:sp>
      <p:sp>
        <p:nvSpPr>
          <p:cNvPr id="22" name="Rounded Rectangle 21"/>
          <p:cNvSpPr/>
          <p:nvPr/>
        </p:nvSpPr>
        <p:spPr>
          <a:xfrm>
            <a:off x="8046720" y="1920240"/>
            <a:ext cx="3566160" cy="4754880"/>
          </a:xfrm>
          <a:prstGeom prst="roundRect">
            <a:avLst/>
          </a:prstGeom>
          <a:solidFill>
            <a:srgbClr val="1E293B"/>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2103120"/>
            <a:ext cx="3200400" cy="365760"/>
          </a:xfrm>
          <a:prstGeom prst="rect">
            <a:avLst/>
          </a:prstGeom>
          <a:noFill/>
        </p:spPr>
        <p:txBody>
          <a:bodyPr wrap="square">
            <a:spAutoFit/>
          </a:bodyPr>
          <a:lstStyle/>
          <a:p>
            <a:pPr algn="l">
              <a:defRPr sz="1400" b="1">
                <a:solidFill>
                  <a:srgbClr val="22D3EE"/>
                </a:solidFill>
                <a:latin typeface="Calibri"/>
              </a:defRPr>
            </a:pPr>
            <a:r>
              <a:t>Mixed Methods</a:t>
            </a:r>
          </a:p>
        </p:txBody>
      </p:sp>
      <p:sp>
        <p:nvSpPr>
          <p:cNvPr id="24" name="TextBox 23"/>
          <p:cNvSpPr txBox="1"/>
          <p:nvPr/>
        </p:nvSpPr>
        <p:spPr>
          <a:xfrm>
            <a:off x="8229600" y="2560320"/>
            <a:ext cx="3200400" cy="914400"/>
          </a:xfrm>
          <a:prstGeom prst="rect">
            <a:avLst/>
          </a:prstGeom>
          <a:noFill/>
        </p:spPr>
        <p:txBody>
          <a:bodyPr wrap="square">
            <a:spAutoFit/>
          </a:bodyPr>
          <a:lstStyle/>
          <a:p>
            <a:pPr algn="l">
              <a:defRPr sz="900" b="0">
                <a:solidFill>
                  <a:srgbClr val="94A3B8"/>
                </a:solidFill>
                <a:latin typeface="Calibri"/>
              </a:defRPr>
            </a:pPr>
            <a:r>
              <a:t>Combines quantitative experiments with qualitative insights from participants.</a:t>
            </a:r>
          </a:p>
        </p:txBody>
      </p:sp>
      <p:sp>
        <p:nvSpPr>
          <p:cNvPr id="25" name="TextBox 24"/>
          <p:cNvSpPr txBox="1"/>
          <p:nvPr/>
        </p:nvSpPr>
        <p:spPr>
          <a:xfrm>
            <a:off x="8229600" y="3474720"/>
            <a:ext cx="3200400" cy="274320"/>
          </a:xfrm>
          <a:prstGeom prst="rect">
            <a:avLst/>
          </a:prstGeom>
          <a:noFill/>
        </p:spPr>
        <p:txBody>
          <a:bodyPr wrap="square">
            <a:spAutoFit/>
          </a:bodyPr>
          <a:lstStyle/>
          <a:p>
            <a:pPr algn="l">
              <a:defRPr sz="800" b="1">
                <a:solidFill>
                  <a:srgbClr val="34D399"/>
                </a:solidFill>
                <a:latin typeface="Calibri"/>
              </a:defRPr>
            </a:pPr>
            <a:r>
              <a:t>WHEN IT WORKS</a:t>
            </a:r>
          </a:p>
        </p:txBody>
      </p:sp>
      <p:sp>
        <p:nvSpPr>
          <p:cNvPr id="26" name="TextBox 25"/>
          <p:cNvSpPr txBox="1"/>
          <p:nvPr/>
        </p:nvSpPr>
        <p:spPr>
          <a:xfrm>
            <a:off x="8229600" y="3749039"/>
            <a:ext cx="3200400" cy="822960"/>
          </a:xfrm>
          <a:prstGeom prst="rect">
            <a:avLst/>
          </a:prstGeom>
          <a:noFill/>
        </p:spPr>
        <p:txBody>
          <a:bodyPr wrap="square">
            <a:spAutoFit/>
          </a:bodyPr>
          <a:lstStyle/>
          <a:p>
            <a:pPr algn="l">
              <a:defRPr sz="900" b="0">
                <a:solidFill>
                  <a:srgbClr val="94A3B8"/>
                </a:solidFill>
                <a:latin typeface="Calibri"/>
              </a:defRPr>
            </a:pPr>
            <a:r>
              <a:t>When you also want to explore usability of detection dashboards.</a:t>
            </a:r>
          </a:p>
        </p:txBody>
      </p:sp>
      <p:sp>
        <p:nvSpPr>
          <p:cNvPr id="27" name="TextBox 26"/>
          <p:cNvSpPr txBox="1"/>
          <p:nvPr/>
        </p:nvSpPr>
        <p:spPr>
          <a:xfrm>
            <a:off x="8229600" y="4663440"/>
            <a:ext cx="3200400" cy="274320"/>
          </a:xfrm>
          <a:prstGeom prst="rect">
            <a:avLst/>
          </a:prstGeom>
          <a:noFill/>
        </p:spPr>
        <p:txBody>
          <a:bodyPr wrap="square">
            <a:spAutoFit/>
          </a:bodyPr>
          <a:lstStyle/>
          <a:p>
            <a:pPr algn="l">
              <a:defRPr sz="800" b="1">
                <a:solidFill>
                  <a:srgbClr val="DC2626"/>
                </a:solidFill>
                <a:latin typeface="Calibri"/>
              </a:defRPr>
            </a:pPr>
            <a:r>
              <a:t>WHY NOT FOR US</a:t>
            </a:r>
          </a:p>
        </p:txBody>
      </p:sp>
      <p:sp>
        <p:nvSpPr>
          <p:cNvPr id="28" name="TextBox 27"/>
          <p:cNvSpPr txBox="1"/>
          <p:nvPr/>
        </p:nvSpPr>
        <p:spPr>
          <a:xfrm>
            <a:off x="8229600" y="4937760"/>
            <a:ext cx="3200400" cy="822960"/>
          </a:xfrm>
          <a:prstGeom prst="rect">
            <a:avLst/>
          </a:prstGeom>
          <a:noFill/>
        </p:spPr>
        <p:txBody>
          <a:bodyPr wrap="square">
            <a:spAutoFit/>
          </a:bodyPr>
          <a:lstStyle/>
          <a:p>
            <a:pPr algn="l">
              <a:defRPr sz="900" b="0">
                <a:solidFill>
                  <a:srgbClr val="94A3B8"/>
                </a:solidFill>
                <a:latin typeface="Calibri"/>
              </a:defRPr>
            </a:pPr>
            <a:r>
              <a:t>Adds complexity without clear benefit. Our question is about model performance.</a:t>
            </a:r>
          </a:p>
        </p:txBody>
      </p:sp>
      <p:sp>
        <p:nvSpPr>
          <p:cNvPr id="29" name="TextBox 28"/>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2743200" cy="274320"/>
          </a:xfrm>
          <a:prstGeom prst="rect">
            <a:avLst/>
          </a:prstGeom>
          <a:noFill/>
        </p:spPr>
        <p:txBody>
          <a:bodyPr wrap="square">
            <a:spAutoFit/>
          </a:bodyPr>
          <a:lstStyle/>
          <a:p>
            <a:pPr algn="l">
              <a:defRPr sz="900" b="1">
                <a:solidFill>
                  <a:srgbClr val="34D399"/>
                </a:solidFill>
                <a:latin typeface="Calibri"/>
              </a:defRPr>
            </a:pPr>
            <a:r>
              <a:t>JUSTIFICATION</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1F5F9"/>
                </a:solidFill>
                <a:latin typeface="Calibri"/>
              </a:defRPr>
            </a:pPr>
            <a:r>
              <a:t>Why Quantitative Methodology is the Best Fit</a:t>
            </a:r>
          </a:p>
        </p:txBody>
      </p:sp>
      <p:sp>
        <p:nvSpPr>
          <p:cNvPr id="6" name="TextBox 5"/>
          <p:cNvSpPr txBox="1"/>
          <p:nvPr/>
        </p:nvSpPr>
        <p:spPr>
          <a:xfrm>
            <a:off x="548640" y="1371600"/>
            <a:ext cx="9144000" cy="365760"/>
          </a:xfrm>
          <a:prstGeom prst="rect">
            <a:avLst/>
          </a:prstGeom>
          <a:noFill/>
        </p:spPr>
        <p:txBody>
          <a:bodyPr wrap="square">
            <a:spAutoFit/>
          </a:bodyPr>
          <a:lstStyle/>
          <a:p>
            <a:pPr algn="l">
              <a:defRPr sz="1100" b="0">
                <a:solidFill>
                  <a:srgbClr val="94A3B8"/>
                </a:solidFill>
                <a:latin typeface="Calibri"/>
              </a:defRPr>
            </a:pPr>
            <a:r>
              <a:t>The nature of our research problem naturally demands a quantitative approach.</a:t>
            </a:r>
          </a:p>
        </p:txBody>
      </p:sp>
      <p:sp>
        <p:nvSpPr>
          <p:cNvPr id="7" name="Rounded Rectangle 6"/>
          <p:cNvSpPr/>
          <p:nvPr/>
        </p:nvSpPr>
        <p:spPr>
          <a:xfrm>
            <a:off x="365760" y="1920240"/>
            <a:ext cx="5669280" cy="39319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5029200" cy="365760"/>
          </a:xfrm>
          <a:prstGeom prst="rect">
            <a:avLst/>
          </a:prstGeom>
          <a:noFill/>
        </p:spPr>
        <p:txBody>
          <a:bodyPr wrap="square">
            <a:spAutoFit/>
          </a:bodyPr>
          <a:lstStyle/>
          <a:p>
            <a:pPr algn="l">
              <a:defRPr sz="1300" b="1">
                <a:solidFill>
                  <a:srgbClr val="60A5FA"/>
                </a:solidFill>
                <a:latin typeface="Calibri"/>
              </a:defRPr>
            </a:pPr>
            <a:r>
              <a:t>The Core Argument</a:t>
            </a:r>
          </a:p>
        </p:txBody>
      </p:sp>
      <p:sp>
        <p:nvSpPr>
          <p:cNvPr id="9" name="TextBox 8"/>
          <p:cNvSpPr txBox="1"/>
          <p:nvPr/>
        </p:nvSpPr>
        <p:spPr>
          <a:xfrm>
            <a:off x="640080" y="2560320"/>
            <a:ext cx="5029200" cy="640080"/>
          </a:xfrm>
          <a:prstGeom prst="rect">
            <a:avLst/>
          </a:prstGeom>
          <a:noFill/>
        </p:spPr>
        <p:txBody>
          <a:bodyPr wrap="square">
            <a:spAutoFit/>
          </a:bodyPr>
          <a:lstStyle/>
          <a:p>
            <a:pPr algn="l">
              <a:defRPr sz="1000" b="0">
                <a:solidFill>
                  <a:srgbClr val="CBD5E1"/>
                </a:solidFill>
                <a:latin typeface="Calibri"/>
              </a:defRPr>
            </a:pPr>
            <a:r>
              <a:t>At its heart, our research asks: Can an AI model reliably detect advanced persistent threats in cloud network traffic? Answering this requires:</a:t>
            </a:r>
          </a:p>
        </p:txBody>
      </p:sp>
      <p:sp>
        <p:nvSpPr>
          <p:cNvPr id="10" name="TextBox 9"/>
          <p:cNvSpPr txBox="1"/>
          <p:nvPr/>
        </p:nvSpPr>
        <p:spPr>
          <a:xfrm>
            <a:off x="822960" y="3291840"/>
            <a:ext cx="4846320" cy="457200"/>
          </a:xfrm>
          <a:prstGeom prst="rect">
            <a:avLst/>
          </a:prstGeom>
          <a:noFill/>
        </p:spPr>
        <p:txBody>
          <a:bodyPr wrap="square">
            <a:spAutoFit/>
          </a:bodyPr>
          <a:lstStyle/>
          <a:p>
            <a:pPr algn="l">
              <a:defRPr sz="1000" b="0">
                <a:solidFill>
                  <a:srgbClr val="94A3B8"/>
                </a:solidFill>
                <a:latin typeface="Calibri"/>
              </a:defRPr>
            </a:pPr>
            <a:r>
              <a:t>1.  Train models on large-scale datasets with thousands of flow records</a:t>
            </a:r>
          </a:p>
        </p:txBody>
      </p:sp>
      <p:sp>
        <p:nvSpPr>
          <p:cNvPr id="11" name="TextBox 10"/>
          <p:cNvSpPr txBox="1"/>
          <p:nvPr/>
        </p:nvSpPr>
        <p:spPr>
          <a:xfrm>
            <a:off x="822960" y="3794760"/>
            <a:ext cx="4846320" cy="457200"/>
          </a:xfrm>
          <a:prstGeom prst="rect">
            <a:avLst/>
          </a:prstGeom>
          <a:noFill/>
        </p:spPr>
        <p:txBody>
          <a:bodyPr wrap="square">
            <a:spAutoFit/>
          </a:bodyPr>
          <a:lstStyle/>
          <a:p>
            <a:pPr algn="l">
              <a:defRPr sz="1000" b="0">
                <a:solidFill>
                  <a:srgbClr val="94A3B8"/>
                </a:solidFill>
                <a:latin typeface="Calibri"/>
              </a:defRPr>
            </a:pPr>
            <a:r>
              <a:t>2.  Measure detection using precision, recall, and F1-score</a:t>
            </a:r>
          </a:p>
        </p:txBody>
      </p:sp>
      <p:sp>
        <p:nvSpPr>
          <p:cNvPr id="12" name="TextBox 11"/>
          <p:cNvSpPr txBox="1"/>
          <p:nvPr/>
        </p:nvSpPr>
        <p:spPr>
          <a:xfrm>
            <a:off x="822960" y="4297680"/>
            <a:ext cx="4846320" cy="457200"/>
          </a:xfrm>
          <a:prstGeom prst="rect">
            <a:avLst/>
          </a:prstGeom>
          <a:noFill/>
        </p:spPr>
        <p:txBody>
          <a:bodyPr wrap="square">
            <a:spAutoFit/>
          </a:bodyPr>
          <a:lstStyle/>
          <a:p>
            <a:pPr algn="l">
              <a:defRPr sz="1000" b="0">
                <a:solidFill>
                  <a:srgbClr val="94A3B8"/>
                </a:solidFill>
                <a:latin typeface="Calibri"/>
              </a:defRPr>
            </a:pPr>
            <a:r>
              <a:t>3.  Compare results against existing methods on same benchmarks</a:t>
            </a:r>
          </a:p>
        </p:txBody>
      </p:sp>
      <p:sp>
        <p:nvSpPr>
          <p:cNvPr id="13" name="TextBox 12"/>
          <p:cNvSpPr txBox="1"/>
          <p:nvPr/>
        </p:nvSpPr>
        <p:spPr>
          <a:xfrm>
            <a:off x="822960" y="4800600"/>
            <a:ext cx="4846320" cy="457200"/>
          </a:xfrm>
          <a:prstGeom prst="rect">
            <a:avLst/>
          </a:prstGeom>
          <a:noFill/>
        </p:spPr>
        <p:txBody>
          <a:bodyPr wrap="square">
            <a:spAutoFit/>
          </a:bodyPr>
          <a:lstStyle/>
          <a:p>
            <a:pPr algn="l">
              <a:defRPr sz="1000" b="0">
                <a:solidFill>
                  <a:srgbClr val="94A3B8"/>
                </a:solidFill>
                <a:latin typeface="Calibri"/>
              </a:defRPr>
            </a:pPr>
            <a:r>
              <a:t>4.  Apply statistical tests to confirm improvements are not due to chance</a:t>
            </a:r>
          </a:p>
        </p:txBody>
      </p:sp>
      <p:sp>
        <p:nvSpPr>
          <p:cNvPr id="14" name="Rounded Rectangle 13"/>
          <p:cNvSpPr/>
          <p:nvPr/>
        </p:nvSpPr>
        <p:spPr>
          <a:xfrm>
            <a:off x="6309360" y="1920240"/>
            <a:ext cx="5303520" cy="3200400"/>
          </a:xfrm>
          <a:prstGeom prst="roundRect">
            <a:avLst/>
          </a:prstGeom>
          <a:solidFill>
            <a:srgbClr val="1E293B"/>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103120"/>
            <a:ext cx="4754880" cy="365760"/>
          </a:xfrm>
          <a:prstGeom prst="rect">
            <a:avLst/>
          </a:prstGeom>
          <a:noFill/>
        </p:spPr>
        <p:txBody>
          <a:bodyPr wrap="square">
            <a:spAutoFit/>
          </a:bodyPr>
          <a:lstStyle/>
          <a:p>
            <a:pPr algn="l">
              <a:defRPr sz="1300" b="1">
                <a:solidFill>
                  <a:srgbClr val="34D399"/>
                </a:solidFill>
                <a:latin typeface="Calibri"/>
              </a:defRPr>
            </a:pPr>
            <a:r>
              <a:t>Alignment with Research Goals</a:t>
            </a:r>
          </a:p>
        </p:txBody>
      </p:sp>
      <p:sp>
        <p:nvSpPr>
          <p:cNvPr id="16" name="Rounded Rectangle 15"/>
          <p:cNvSpPr/>
          <p:nvPr/>
        </p:nvSpPr>
        <p:spPr>
          <a:xfrm>
            <a:off x="6400800" y="2560320"/>
            <a:ext cx="5029200" cy="365760"/>
          </a:xfrm>
          <a:prstGeom prst="roundRect">
            <a:avLst/>
          </a:prstGeom>
          <a:solidFill>
            <a:srgbClr val="151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587752"/>
            <a:ext cx="2286000" cy="320040"/>
          </a:xfrm>
          <a:prstGeom prst="rect">
            <a:avLst/>
          </a:prstGeom>
          <a:noFill/>
        </p:spPr>
        <p:txBody>
          <a:bodyPr wrap="square">
            <a:spAutoFit/>
          </a:bodyPr>
          <a:lstStyle/>
          <a:p>
            <a:pPr algn="l">
              <a:defRPr sz="800" b="1">
                <a:solidFill>
                  <a:srgbClr val="60A5FA"/>
                </a:solidFill>
                <a:latin typeface="Calibri"/>
              </a:defRPr>
            </a:pPr>
            <a:r>
              <a:t>Research Goal</a:t>
            </a:r>
          </a:p>
        </p:txBody>
      </p:sp>
      <p:sp>
        <p:nvSpPr>
          <p:cNvPr id="18" name="TextBox 17"/>
          <p:cNvSpPr txBox="1"/>
          <p:nvPr/>
        </p:nvSpPr>
        <p:spPr>
          <a:xfrm>
            <a:off x="8686800" y="2587752"/>
            <a:ext cx="2743200" cy="320040"/>
          </a:xfrm>
          <a:prstGeom prst="rect">
            <a:avLst/>
          </a:prstGeom>
          <a:noFill/>
        </p:spPr>
        <p:txBody>
          <a:bodyPr wrap="square">
            <a:spAutoFit/>
          </a:bodyPr>
          <a:lstStyle/>
          <a:p>
            <a:pPr algn="l">
              <a:defRPr sz="800" b="1">
                <a:solidFill>
                  <a:srgbClr val="60A5FA"/>
                </a:solidFill>
                <a:latin typeface="Calibri"/>
              </a:defRPr>
            </a:pPr>
            <a:r>
              <a:t>How Quantitative Supports It</a:t>
            </a:r>
          </a:p>
        </p:txBody>
      </p:sp>
      <p:sp>
        <p:nvSpPr>
          <p:cNvPr id="19" name="TextBox 18"/>
          <p:cNvSpPr txBox="1"/>
          <p:nvPr/>
        </p:nvSpPr>
        <p:spPr>
          <a:xfrm>
            <a:off x="6492240" y="2971800"/>
            <a:ext cx="2103120" cy="411480"/>
          </a:xfrm>
          <a:prstGeom prst="rect">
            <a:avLst/>
          </a:prstGeom>
          <a:noFill/>
        </p:spPr>
        <p:txBody>
          <a:bodyPr wrap="square">
            <a:spAutoFit/>
          </a:bodyPr>
          <a:lstStyle/>
          <a:p>
            <a:pPr algn="l">
              <a:defRPr sz="900" b="1">
                <a:solidFill>
                  <a:srgbClr val="F1F5F9"/>
                </a:solidFill>
                <a:latin typeface="Calibri"/>
              </a:defRPr>
            </a:pPr>
            <a:r>
              <a:t>Build detection framework</a:t>
            </a:r>
          </a:p>
        </p:txBody>
      </p:sp>
      <p:sp>
        <p:nvSpPr>
          <p:cNvPr id="20" name="TextBox 19"/>
          <p:cNvSpPr txBox="1"/>
          <p:nvPr/>
        </p:nvSpPr>
        <p:spPr>
          <a:xfrm>
            <a:off x="8686800" y="2971800"/>
            <a:ext cx="2743200" cy="411480"/>
          </a:xfrm>
          <a:prstGeom prst="rect">
            <a:avLst/>
          </a:prstGeom>
          <a:noFill/>
        </p:spPr>
        <p:txBody>
          <a:bodyPr wrap="square">
            <a:spAutoFit/>
          </a:bodyPr>
          <a:lstStyle/>
          <a:p>
            <a:pPr algn="l">
              <a:defRPr sz="900" b="0">
                <a:solidFill>
                  <a:srgbClr val="94A3B8"/>
                </a:solidFill>
                <a:latin typeface="Calibri"/>
              </a:defRPr>
            </a:pPr>
            <a:r>
              <a:t>Metrics evaluate if the system works</a:t>
            </a:r>
          </a:p>
        </p:txBody>
      </p:sp>
      <p:sp>
        <p:nvSpPr>
          <p:cNvPr id="21" name="TextBox 20"/>
          <p:cNvSpPr txBox="1"/>
          <p:nvPr/>
        </p:nvSpPr>
        <p:spPr>
          <a:xfrm>
            <a:off x="6492240" y="3429000"/>
            <a:ext cx="2103120" cy="411480"/>
          </a:xfrm>
          <a:prstGeom prst="rect">
            <a:avLst/>
          </a:prstGeom>
          <a:noFill/>
        </p:spPr>
        <p:txBody>
          <a:bodyPr wrap="square">
            <a:spAutoFit/>
          </a:bodyPr>
          <a:lstStyle/>
          <a:p>
            <a:pPr algn="l">
              <a:defRPr sz="900" b="1">
                <a:solidFill>
                  <a:srgbClr val="F1F5F9"/>
                </a:solidFill>
                <a:latin typeface="Calibri"/>
              </a:defRPr>
            </a:pPr>
            <a:r>
              <a:t>Beat existing methods</a:t>
            </a:r>
          </a:p>
        </p:txBody>
      </p:sp>
      <p:sp>
        <p:nvSpPr>
          <p:cNvPr id="22" name="TextBox 21"/>
          <p:cNvSpPr txBox="1"/>
          <p:nvPr/>
        </p:nvSpPr>
        <p:spPr>
          <a:xfrm>
            <a:off x="8686800" y="3429000"/>
            <a:ext cx="2743200" cy="411480"/>
          </a:xfrm>
          <a:prstGeom prst="rect">
            <a:avLst/>
          </a:prstGeom>
          <a:noFill/>
        </p:spPr>
        <p:txBody>
          <a:bodyPr wrap="square">
            <a:spAutoFit/>
          </a:bodyPr>
          <a:lstStyle/>
          <a:p>
            <a:pPr algn="l">
              <a:defRPr sz="900" b="0">
                <a:solidFill>
                  <a:srgbClr val="94A3B8"/>
                </a:solidFill>
                <a:latin typeface="Calibri"/>
              </a:defRPr>
            </a:pPr>
            <a:r>
              <a:t>Statistical comparison gives objective evidence</a:t>
            </a:r>
          </a:p>
        </p:txBody>
      </p:sp>
      <p:sp>
        <p:nvSpPr>
          <p:cNvPr id="23" name="TextBox 22"/>
          <p:cNvSpPr txBox="1"/>
          <p:nvPr/>
        </p:nvSpPr>
        <p:spPr>
          <a:xfrm>
            <a:off x="6492240" y="3886200"/>
            <a:ext cx="2103120" cy="411480"/>
          </a:xfrm>
          <a:prstGeom prst="rect">
            <a:avLst/>
          </a:prstGeom>
          <a:noFill/>
        </p:spPr>
        <p:txBody>
          <a:bodyPr wrap="square">
            <a:spAutoFit/>
          </a:bodyPr>
          <a:lstStyle/>
          <a:p>
            <a:pPr algn="l">
              <a:defRPr sz="900" b="1">
                <a:solidFill>
                  <a:srgbClr val="F1F5F9"/>
                </a:solidFill>
                <a:latin typeface="Calibri"/>
              </a:defRPr>
            </a:pPr>
            <a:r>
              <a:t>Ensure real-time viability</a:t>
            </a:r>
          </a:p>
        </p:txBody>
      </p:sp>
      <p:sp>
        <p:nvSpPr>
          <p:cNvPr id="24" name="TextBox 23"/>
          <p:cNvSpPr txBox="1"/>
          <p:nvPr/>
        </p:nvSpPr>
        <p:spPr>
          <a:xfrm>
            <a:off x="8686800" y="3886200"/>
            <a:ext cx="2743200" cy="411480"/>
          </a:xfrm>
          <a:prstGeom prst="rect">
            <a:avLst/>
          </a:prstGeom>
          <a:noFill/>
        </p:spPr>
        <p:txBody>
          <a:bodyPr wrap="square">
            <a:spAutoFit/>
          </a:bodyPr>
          <a:lstStyle/>
          <a:p>
            <a:pPr algn="l">
              <a:defRPr sz="900" b="0">
                <a:solidFill>
                  <a:srgbClr val="94A3B8"/>
                </a:solidFill>
                <a:latin typeface="Calibri"/>
              </a:defRPr>
            </a:pPr>
            <a:r>
              <a:t>Inference latency measured in milliseconds</a:t>
            </a:r>
          </a:p>
        </p:txBody>
      </p:sp>
      <p:sp>
        <p:nvSpPr>
          <p:cNvPr id="25" name="TextBox 24"/>
          <p:cNvSpPr txBox="1"/>
          <p:nvPr/>
        </p:nvSpPr>
        <p:spPr>
          <a:xfrm>
            <a:off x="6492240" y="4343400"/>
            <a:ext cx="2103120" cy="411480"/>
          </a:xfrm>
          <a:prstGeom prst="rect">
            <a:avLst/>
          </a:prstGeom>
          <a:noFill/>
        </p:spPr>
        <p:txBody>
          <a:bodyPr wrap="square">
            <a:spAutoFit/>
          </a:bodyPr>
          <a:lstStyle/>
          <a:p>
            <a:pPr algn="l">
              <a:defRPr sz="900" b="1">
                <a:solidFill>
                  <a:srgbClr val="F1F5F9"/>
                </a:solidFill>
                <a:latin typeface="Calibri"/>
              </a:defRPr>
            </a:pPr>
            <a:r>
              <a:t>Validate across scenarios</a:t>
            </a:r>
          </a:p>
        </p:txBody>
      </p:sp>
      <p:sp>
        <p:nvSpPr>
          <p:cNvPr id="26" name="TextBox 25"/>
          <p:cNvSpPr txBox="1"/>
          <p:nvPr/>
        </p:nvSpPr>
        <p:spPr>
          <a:xfrm>
            <a:off x="8686800" y="4343400"/>
            <a:ext cx="2743200" cy="411480"/>
          </a:xfrm>
          <a:prstGeom prst="rect">
            <a:avLst/>
          </a:prstGeom>
          <a:noFill/>
        </p:spPr>
        <p:txBody>
          <a:bodyPr wrap="square">
            <a:spAutoFit/>
          </a:bodyPr>
          <a:lstStyle/>
          <a:p>
            <a:pPr algn="l">
              <a:defRPr sz="900" b="0">
                <a:solidFill>
                  <a:srgbClr val="94A3B8"/>
                </a:solidFill>
                <a:latin typeface="Calibri"/>
              </a:defRPr>
            </a:pPr>
            <a:r>
              <a:t>Cross-validation ensures generalizability</a:t>
            </a:r>
          </a:p>
        </p:txBody>
      </p:sp>
      <p:sp>
        <p:nvSpPr>
          <p:cNvPr id="27" name="Rounded Rectangle 26"/>
          <p:cNvSpPr/>
          <p:nvPr/>
        </p:nvSpPr>
        <p:spPr>
          <a:xfrm>
            <a:off x="6309360" y="5303520"/>
            <a:ext cx="5303520" cy="1005840"/>
          </a:xfrm>
          <a:prstGeom prst="roundRect">
            <a:avLst/>
          </a:prstGeom>
          <a:solidFill>
            <a:srgbClr val="0A1F20"/>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5394960"/>
            <a:ext cx="4754880" cy="822960"/>
          </a:xfrm>
          <a:prstGeom prst="rect">
            <a:avLst/>
          </a:prstGeom>
          <a:noFill/>
        </p:spPr>
        <p:txBody>
          <a:bodyPr wrap="square">
            <a:spAutoFit/>
          </a:bodyPr>
          <a:lstStyle/>
          <a:p>
            <a:pPr algn="l">
              <a:defRPr sz="1000" b="0">
                <a:solidFill>
                  <a:srgbClr val="CBD5E1"/>
                </a:solidFill>
                <a:latin typeface="Calibri"/>
              </a:defRPr>
            </a:pPr>
            <a:r>
              <a:t>In plain terms: We chose quantitative methodology because our research produces numbers (accuracy, processing times, error rates), and we need statistical tools to make sense of those numbers and draw valid conclusions.</a:t>
            </a:r>
          </a:p>
        </p:txBody>
      </p:sp>
      <p:sp>
        <p:nvSpPr>
          <p:cNvPr id="29" name="TextBox 28"/>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640080"/>
            <a:ext cx="5486400" cy="320040"/>
          </a:xfrm>
          <a:prstGeom prst="rect">
            <a:avLst/>
          </a:prstGeom>
          <a:noFill/>
        </p:spPr>
        <p:txBody>
          <a:bodyPr wrap="square">
            <a:spAutoFit/>
          </a:bodyPr>
          <a:lstStyle/>
          <a:p>
            <a:pPr algn="ctr">
              <a:defRPr sz="900" b="1">
                <a:solidFill>
                  <a:srgbClr val="60A5FA"/>
                </a:solidFill>
                <a:latin typeface="Calibri"/>
              </a:defRPr>
            </a:pPr>
            <a:r>
              <a:t>ACTIVITY 1 SUMMARY</a:t>
            </a:r>
          </a:p>
        </p:txBody>
      </p:sp>
      <p:sp>
        <p:nvSpPr>
          <p:cNvPr id="5" name="TextBox 4"/>
          <p:cNvSpPr txBox="1"/>
          <p:nvPr/>
        </p:nvSpPr>
        <p:spPr>
          <a:xfrm>
            <a:off x="1828800" y="1188720"/>
            <a:ext cx="8503920" cy="731520"/>
          </a:xfrm>
          <a:prstGeom prst="rect">
            <a:avLst/>
          </a:prstGeom>
          <a:noFill/>
        </p:spPr>
        <p:txBody>
          <a:bodyPr wrap="square">
            <a:spAutoFit/>
          </a:bodyPr>
          <a:lstStyle/>
          <a:p>
            <a:pPr algn="ctr">
              <a:defRPr sz="2800" b="1">
                <a:solidFill>
                  <a:srgbClr val="F1F5F9"/>
                </a:solidFill>
                <a:latin typeface="Calibri"/>
              </a:defRPr>
            </a:pPr>
            <a:r>
              <a:t>Methodology Decision: Quantitative</a:t>
            </a:r>
          </a:p>
        </p:txBody>
      </p:sp>
      <p:sp>
        <p:nvSpPr>
          <p:cNvPr id="6" name="Rounded Rectangle 5"/>
          <p:cNvSpPr/>
          <p:nvPr/>
        </p:nvSpPr>
        <p:spPr>
          <a:xfrm>
            <a:off x="3657600" y="2286000"/>
            <a:ext cx="1463040" cy="457200"/>
          </a:xfrm>
          <a:prstGeom prst="roundRect">
            <a:avLst/>
          </a:prstGeom>
          <a:solidFill>
            <a:srgbClr val="152545"/>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2331720"/>
            <a:ext cx="1463040" cy="365760"/>
          </a:xfrm>
          <a:prstGeom prst="rect">
            <a:avLst/>
          </a:prstGeom>
          <a:noFill/>
        </p:spPr>
        <p:txBody>
          <a:bodyPr wrap="square">
            <a:spAutoFit/>
          </a:bodyPr>
          <a:lstStyle/>
          <a:p>
            <a:pPr algn="ctr">
              <a:defRPr sz="900" b="1">
                <a:solidFill>
                  <a:srgbClr val="60A5FA"/>
                </a:solidFill>
                <a:latin typeface="Calibri"/>
              </a:defRPr>
            </a:pPr>
            <a:r>
              <a:t>  Quantitative</a:t>
            </a:r>
          </a:p>
        </p:txBody>
      </p:sp>
      <p:sp>
        <p:nvSpPr>
          <p:cNvPr id="8" name="Rounded Rectangle 7"/>
          <p:cNvSpPr/>
          <p:nvPr/>
        </p:nvSpPr>
        <p:spPr>
          <a:xfrm>
            <a:off x="5486400" y="2286000"/>
            <a:ext cx="146304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2331720"/>
            <a:ext cx="1463040" cy="365760"/>
          </a:xfrm>
          <a:prstGeom prst="rect">
            <a:avLst/>
          </a:prstGeom>
          <a:noFill/>
        </p:spPr>
        <p:txBody>
          <a:bodyPr wrap="square">
            <a:spAutoFit/>
          </a:bodyPr>
          <a:lstStyle/>
          <a:p>
            <a:pPr algn="ctr">
              <a:defRPr sz="900" b="0">
                <a:solidFill>
                  <a:srgbClr val="94A3B8"/>
                </a:solidFill>
                <a:latin typeface="Calibri"/>
              </a:defRPr>
            </a:pPr>
            <a:r>
              <a:t>  Qualitative</a:t>
            </a:r>
          </a:p>
        </p:txBody>
      </p:sp>
      <p:sp>
        <p:nvSpPr>
          <p:cNvPr id="10" name="Rounded Rectangle 9"/>
          <p:cNvSpPr/>
          <p:nvPr/>
        </p:nvSpPr>
        <p:spPr>
          <a:xfrm>
            <a:off x="7315200" y="2286000"/>
            <a:ext cx="1463040" cy="457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331720"/>
            <a:ext cx="1463040" cy="365760"/>
          </a:xfrm>
          <a:prstGeom prst="rect">
            <a:avLst/>
          </a:prstGeom>
          <a:noFill/>
        </p:spPr>
        <p:txBody>
          <a:bodyPr wrap="square">
            <a:spAutoFit/>
          </a:bodyPr>
          <a:lstStyle/>
          <a:p>
            <a:pPr algn="ctr">
              <a:defRPr sz="900" b="0">
                <a:solidFill>
                  <a:srgbClr val="94A3B8"/>
                </a:solidFill>
                <a:latin typeface="Calibri"/>
              </a:defRPr>
            </a:pPr>
            <a:r>
              <a:t>  Mixed</a:t>
            </a:r>
          </a:p>
        </p:txBody>
      </p:sp>
      <p:sp>
        <p:nvSpPr>
          <p:cNvPr id="12" name="Rounded Rectangle 11"/>
          <p:cNvSpPr/>
          <p:nvPr/>
        </p:nvSpPr>
        <p:spPr>
          <a:xfrm>
            <a:off x="2286000" y="3200400"/>
            <a:ext cx="7589520" cy="2560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3383280"/>
            <a:ext cx="7040880" cy="365760"/>
          </a:xfrm>
          <a:prstGeom prst="rect">
            <a:avLst/>
          </a:prstGeom>
          <a:noFill/>
        </p:spPr>
        <p:txBody>
          <a:bodyPr wrap="square">
            <a:spAutoFit/>
          </a:bodyPr>
          <a:lstStyle/>
          <a:p>
            <a:pPr algn="ctr">
              <a:defRPr sz="1400" b="1">
                <a:solidFill>
                  <a:srgbClr val="60A5FA"/>
                </a:solidFill>
                <a:latin typeface="Calibri"/>
              </a:defRPr>
            </a:pPr>
            <a:r>
              <a:t>Key Takeaway</a:t>
            </a:r>
          </a:p>
        </p:txBody>
      </p:sp>
      <p:sp>
        <p:nvSpPr>
          <p:cNvPr id="14" name="TextBox 13"/>
          <p:cNvSpPr txBox="1"/>
          <p:nvPr/>
        </p:nvSpPr>
        <p:spPr>
          <a:xfrm>
            <a:off x="2560320" y="3840480"/>
            <a:ext cx="7040880" cy="1645920"/>
          </a:xfrm>
          <a:prstGeom prst="rect">
            <a:avLst/>
          </a:prstGeom>
          <a:noFill/>
        </p:spPr>
        <p:txBody>
          <a:bodyPr wrap="square">
            <a:spAutoFit/>
          </a:bodyPr>
          <a:lstStyle/>
          <a:p>
            <a:pPr algn="ctr">
              <a:defRPr sz="1200" b="0">
                <a:solidFill>
                  <a:srgbClr val="CBD5E1"/>
                </a:solidFill>
                <a:latin typeface="Calibri"/>
              </a:defRPr>
            </a:pPr>
            <a:r>
              <a:t>A quantitative methodology gives us the scientific rigour needed to develop, test, and validate AI detection models. It lets us state precisely how well our system performs, back that up with statistical evidence, and present findings that the research community can independently verify and build upon.</a:t>
            </a:r>
          </a:p>
        </p:txBody>
      </p:sp>
      <p:sp>
        <p:nvSpPr>
          <p:cNvPr id="15" name="TextBox 14"/>
          <p:cNvSpPr txBox="1"/>
          <p:nvPr/>
        </p:nvSpPr>
        <p:spPr>
          <a:xfrm>
            <a:off x="3657600" y="5943600"/>
            <a:ext cx="4846320" cy="274320"/>
          </a:xfrm>
          <a:prstGeom prst="rect">
            <a:avLst/>
          </a:prstGeom>
          <a:noFill/>
        </p:spPr>
        <p:txBody>
          <a:bodyPr wrap="square">
            <a:spAutoFit/>
          </a:bodyPr>
          <a:lstStyle/>
          <a:p>
            <a:pPr algn="ctr">
              <a:defRPr sz="1000" b="0">
                <a:solidFill>
                  <a:srgbClr val="94A3B8"/>
                </a:solidFill>
                <a:latin typeface="Calibri"/>
              </a:defRPr>
            </a:pPr>
            <a:r>
              <a:t>Next: Activity 2 - Data Collection Methods</a:t>
            </a:r>
          </a:p>
        </p:txBody>
      </p:sp>
      <p:sp>
        <p:nvSpPr>
          <p:cNvPr id="16" name="TextBox 15"/>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4572000" cy="274320"/>
          </a:xfrm>
          <a:prstGeom prst="rect">
            <a:avLst/>
          </a:prstGeom>
          <a:noFill/>
        </p:spPr>
        <p:txBody>
          <a:bodyPr wrap="square">
            <a:spAutoFit/>
          </a:bodyPr>
          <a:lstStyle/>
          <a:p>
            <a:pPr algn="l">
              <a:defRPr sz="900" b="1">
                <a:solidFill>
                  <a:srgbClr val="22D3EE"/>
                </a:solidFill>
                <a:latin typeface="Calibri"/>
              </a:defRPr>
            </a:pPr>
            <a:r>
              <a:t>ACTIVITY 2: DATA COLLECTION METHODS</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1F5F9"/>
                </a:solidFill>
                <a:latin typeface="Calibri"/>
              </a:defRPr>
            </a:pPr>
            <a:r>
              <a:t>How We Collect Our Data</a:t>
            </a:r>
          </a:p>
        </p:txBody>
      </p:sp>
      <p:sp>
        <p:nvSpPr>
          <p:cNvPr id="6" name="TextBox 5"/>
          <p:cNvSpPr txBox="1"/>
          <p:nvPr/>
        </p:nvSpPr>
        <p:spPr>
          <a:xfrm>
            <a:off x="548640" y="1371600"/>
            <a:ext cx="9144000" cy="457200"/>
          </a:xfrm>
          <a:prstGeom prst="rect">
            <a:avLst/>
          </a:prstGeom>
          <a:noFill/>
        </p:spPr>
        <p:txBody>
          <a:bodyPr wrap="square">
            <a:spAutoFit/>
          </a:bodyPr>
          <a:lstStyle/>
          <a:p>
            <a:pPr algn="l">
              <a:defRPr sz="1100" b="0">
                <a:solidFill>
                  <a:srgbClr val="94A3B8"/>
                </a:solidFill>
                <a:latin typeface="Calibri"/>
              </a:defRPr>
            </a:pPr>
            <a:r>
              <a:t>We have selected two complementary methods that together give us comprehensive coverage for training, testing, and validating our AI models.</a:t>
            </a:r>
          </a:p>
        </p:txBody>
      </p:sp>
      <p:sp>
        <p:nvSpPr>
          <p:cNvPr id="7" name="Rounded Rectangle 6"/>
          <p:cNvSpPr/>
          <p:nvPr/>
        </p:nvSpPr>
        <p:spPr>
          <a:xfrm>
            <a:off x="365760" y="2103120"/>
            <a:ext cx="5669280" cy="411480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5029200" cy="365760"/>
          </a:xfrm>
          <a:prstGeom prst="rect">
            <a:avLst/>
          </a:prstGeom>
          <a:noFill/>
        </p:spPr>
        <p:txBody>
          <a:bodyPr wrap="square">
            <a:spAutoFit/>
          </a:bodyPr>
          <a:lstStyle/>
          <a:p>
            <a:pPr algn="l">
              <a:defRPr sz="1300" b="1">
                <a:solidFill>
                  <a:srgbClr val="60A5FA"/>
                </a:solidFill>
                <a:latin typeface="Calibri"/>
              </a:defRPr>
            </a:pPr>
            <a:r>
              <a:t>Method 1: Secondary Data (Benchmark Datasets)</a:t>
            </a:r>
          </a:p>
        </p:txBody>
      </p:sp>
      <p:sp>
        <p:nvSpPr>
          <p:cNvPr id="9" name="TextBox 8"/>
          <p:cNvSpPr txBox="1"/>
          <p:nvPr/>
        </p:nvSpPr>
        <p:spPr>
          <a:xfrm>
            <a:off x="640080" y="2743200"/>
            <a:ext cx="5029200" cy="1097280"/>
          </a:xfrm>
          <a:prstGeom prst="rect">
            <a:avLst/>
          </a:prstGeom>
          <a:noFill/>
        </p:spPr>
        <p:txBody>
          <a:bodyPr wrap="square">
            <a:spAutoFit/>
          </a:bodyPr>
          <a:lstStyle/>
          <a:p>
            <a:pPr algn="l">
              <a:defRPr sz="1000" b="0">
                <a:solidFill>
                  <a:srgbClr val="94A3B8"/>
                </a:solidFill>
                <a:latin typeface="Calibri"/>
              </a:defRPr>
            </a:pPr>
            <a:r>
              <a:t>We use publicly available, peer-reviewed network traffic datasets that contain both normal activity and labelled APT attack samples. These are widely accepted in the cybersecurity research community and allow direct comparison with published results.</a:t>
            </a:r>
          </a:p>
        </p:txBody>
      </p:sp>
      <p:sp>
        <p:nvSpPr>
          <p:cNvPr id="10" name="TextBox 9"/>
          <p:cNvSpPr txBox="1"/>
          <p:nvPr/>
        </p:nvSpPr>
        <p:spPr>
          <a:xfrm>
            <a:off x="822960" y="3931920"/>
            <a:ext cx="4572000" cy="320040"/>
          </a:xfrm>
          <a:prstGeom prst="rect">
            <a:avLst/>
          </a:prstGeom>
          <a:noFill/>
        </p:spPr>
        <p:txBody>
          <a:bodyPr wrap="square">
            <a:spAutoFit/>
          </a:bodyPr>
          <a:lstStyle/>
          <a:p>
            <a:pPr algn="l">
              <a:defRPr sz="1000" b="0">
                <a:solidFill>
                  <a:srgbClr val="CBD5E1"/>
                </a:solidFill>
                <a:latin typeface="Calibri"/>
              </a:defRPr>
            </a:pPr>
            <a:r>
              <a:t>  CICIDS 2017/2018</a:t>
            </a:r>
          </a:p>
        </p:txBody>
      </p:sp>
      <p:sp>
        <p:nvSpPr>
          <p:cNvPr id="11" name="TextBox 10"/>
          <p:cNvSpPr txBox="1"/>
          <p:nvPr/>
        </p:nvSpPr>
        <p:spPr>
          <a:xfrm>
            <a:off x="822960" y="4297680"/>
            <a:ext cx="4572000" cy="320040"/>
          </a:xfrm>
          <a:prstGeom prst="rect">
            <a:avLst/>
          </a:prstGeom>
          <a:noFill/>
        </p:spPr>
        <p:txBody>
          <a:bodyPr wrap="square">
            <a:spAutoFit/>
          </a:bodyPr>
          <a:lstStyle/>
          <a:p>
            <a:pPr algn="l">
              <a:defRPr sz="1000" b="0">
                <a:solidFill>
                  <a:srgbClr val="CBD5E1"/>
                </a:solidFill>
                <a:latin typeface="Calibri"/>
              </a:defRPr>
            </a:pPr>
            <a:r>
              <a:t>  UNSW-NB15</a:t>
            </a:r>
          </a:p>
        </p:txBody>
      </p:sp>
      <p:sp>
        <p:nvSpPr>
          <p:cNvPr id="12" name="TextBox 11"/>
          <p:cNvSpPr txBox="1"/>
          <p:nvPr/>
        </p:nvSpPr>
        <p:spPr>
          <a:xfrm>
            <a:off x="822960" y="4663440"/>
            <a:ext cx="4572000" cy="320040"/>
          </a:xfrm>
          <a:prstGeom prst="rect">
            <a:avLst/>
          </a:prstGeom>
          <a:noFill/>
        </p:spPr>
        <p:txBody>
          <a:bodyPr wrap="square">
            <a:spAutoFit/>
          </a:bodyPr>
          <a:lstStyle/>
          <a:p>
            <a:pPr algn="l">
              <a:defRPr sz="1000" b="0">
                <a:solidFill>
                  <a:srgbClr val="CBD5E1"/>
                </a:solidFill>
                <a:latin typeface="Calibri"/>
              </a:defRPr>
            </a:pPr>
            <a:r>
              <a:t>  Unraveled APT Dataset</a:t>
            </a:r>
          </a:p>
        </p:txBody>
      </p:sp>
      <p:sp>
        <p:nvSpPr>
          <p:cNvPr id="13" name="TextBox 12"/>
          <p:cNvSpPr txBox="1"/>
          <p:nvPr/>
        </p:nvSpPr>
        <p:spPr>
          <a:xfrm>
            <a:off x="822960" y="5029200"/>
            <a:ext cx="4572000" cy="320040"/>
          </a:xfrm>
          <a:prstGeom prst="rect">
            <a:avLst/>
          </a:prstGeom>
          <a:noFill/>
        </p:spPr>
        <p:txBody>
          <a:bodyPr wrap="square">
            <a:spAutoFit/>
          </a:bodyPr>
          <a:lstStyle/>
          <a:p>
            <a:pPr algn="l">
              <a:defRPr sz="1000" b="0">
                <a:solidFill>
                  <a:srgbClr val="CBD5E1"/>
                </a:solidFill>
                <a:latin typeface="Calibri"/>
              </a:defRPr>
            </a:pPr>
            <a:r>
              <a:t>  DARPA TC</a:t>
            </a:r>
          </a:p>
        </p:txBody>
      </p:sp>
      <p:sp>
        <p:nvSpPr>
          <p:cNvPr id="14" name="Rounded Rectangle 13"/>
          <p:cNvSpPr/>
          <p:nvPr/>
        </p:nvSpPr>
        <p:spPr>
          <a:xfrm>
            <a:off x="6309360" y="2103120"/>
            <a:ext cx="5303520" cy="4114800"/>
          </a:xfrm>
          <a:prstGeom prst="roundRect">
            <a:avLst/>
          </a:prstGeom>
          <a:solidFill>
            <a:srgbClr val="1E293B"/>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286000"/>
            <a:ext cx="4754880" cy="365760"/>
          </a:xfrm>
          <a:prstGeom prst="rect">
            <a:avLst/>
          </a:prstGeom>
          <a:noFill/>
        </p:spPr>
        <p:txBody>
          <a:bodyPr wrap="square">
            <a:spAutoFit/>
          </a:bodyPr>
          <a:lstStyle/>
          <a:p>
            <a:pPr algn="l">
              <a:defRPr sz="1300" b="1">
                <a:solidFill>
                  <a:srgbClr val="22D3EE"/>
                </a:solidFill>
                <a:latin typeface="Calibri"/>
              </a:defRPr>
            </a:pPr>
            <a:r>
              <a:t>Method 2: Controlled Experiment (Cloud Simulation)</a:t>
            </a:r>
          </a:p>
        </p:txBody>
      </p:sp>
      <p:sp>
        <p:nvSpPr>
          <p:cNvPr id="16" name="TextBox 15"/>
          <p:cNvSpPr txBox="1"/>
          <p:nvPr/>
        </p:nvSpPr>
        <p:spPr>
          <a:xfrm>
            <a:off x="6583680" y="2743200"/>
            <a:ext cx="4754880" cy="1097280"/>
          </a:xfrm>
          <a:prstGeom prst="rect">
            <a:avLst/>
          </a:prstGeom>
          <a:noFill/>
        </p:spPr>
        <p:txBody>
          <a:bodyPr wrap="square">
            <a:spAutoFit/>
          </a:bodyPr>
          <a:lstStyle/>
          <a:p>
            <a:pPr algn="l">
              <a:defRPr sz="1000" b="0">
                <a:solidFill>
                  <a:srgbClr val="94A3B8"/>
                </a:solidFill>
                <a:latin typeface="Calibri"/>
              </a:defRPr>
            </a:pPr>
            <a:r>
              <a:t>We set up a cloud testbed and simulate realistic APT attack campaigns using the MITRE ATT&amp;CK framework. This generates fresh, cloud-native data that reflects modern threat behaviors not captured in older datasets.</a:t>
            </a:r>
          </a:p>
        </p:txBody>
      </p:sp>
      <p:sp>
        <p:nvSpPr>
          <p:cNvPr id="17" name="TextBox 16"/>
          <p:cNvSpPr txBox="1"/>
          <p:nvPr/>
        </p:nvSpPr>
        <p:spPr>
          <a:xfrm>
            <a:off x="6766560" y="3931920"/>
            <a:ext cx="4572000" cy="320040"/>
          </a:xfrm>
          <a:prstGeom prst="rect">
            <a:avLst/>
          </a:prstGeom>
          <a:noFill/>
        </p:spPr>
        <p:txBody>
          <a:bodyPr wrap="square">
            <a:spAutoFit/>
          </a:bodyPr>
          <a:lstStyle/>
          <a:p>
            <a:pPr algn="l">
              <a:defRPr sz="1000" b="0">
                <a:solidFill>
                  <a:srgbClr val="CBD5E1"/>
                </a:solidFill>
                <a:latin typeface="Calibri"/>
              </a:defRPr>
            </a:pPr>
            <a:r>
              <a:t>  AWS/Azure Cloud Testbed</a:t>
            </a:r>
          </a:p>
        </p:txBody>
      </p:sp>
      <p:sp>
        <p:nvSpPr>
          <p:cNvPr id="18" name="TextBox 17"/>
          <p:cNvSpPr txBox="1"/>
          <p:nvPr/>
        </p:nvSpPr>
        <p:spPr>
          <a:xfrm>
            <a:off x="6766560" y="4297680"/>
            <a:ext cx="4572000" cy="320040"/>
          </a:xfrm>
          <a:prstGeom prst="rect">
            <a:avLst/>
          </a:prstGeom>
          <a:noFill/>
        </p:spPr>
        <p:txBody>
          <a:bodyPr wrap="square">
            <a:spAutoFit/>
          </a:bodyPr>
          <a:lstStyle/>
          <a:p>
            <a:pPr algn="l">
              <a:defRPr sz="1000" b="0">
                <a:solidFill>
                  <a:srgbClr val="CBD5E1"/>
                </a:solidFill>
                <a:latin typeface="Calibri"/>
              </a:defRPr>
            </a:pPr>
            <a:r>
              <a:t>  MITRE ATT&amp;CK Framework</a:t>
            </a:r>
          </a:p>
        </p:txBody>
      </p:sp>
      <p:sp>
        <p:nvSpPr>
          <p:cNvPr id="19" name="TextBox 18"/>
          <p:cNvSpPr txBox="1"/>
          <p:nvPr/>
        </p:nvSpPr>
        <p:spPr>
          <a:xfrm>
            <a:off x="6766560" y="4663440"/>
            <a:ext cx="4572000" cy="320040"/>
          </a:xfrm>
          <a:prstGeom prst="rect">
            <a:avLst/>
          </a:prstGeom>
          <a:noFill/>
        </p:spPr>
        <p:txBody>
          <a:bodyPr wrap="square">
            <a:spAutoFit/>
          </a:bodyPr>
          <a:lstStyle/>
          <a:p>
            <a:pPr algn="l">
              <a:defRPr sz="1000" b="0">
                <a:solidFill>
                  <a:srgbClr val="CBD5E1"/>
                </a:solidFill>
                <a:latin typeface="Calibri"/>
              </a:defRPr>
            </a:pPr>
            <a:r>
              <a:t>  Atomic Red Team Tools</a:t>
            </a:r>
          </a:p>
        </p:txBody>
      </p:sp>
      <p:sp>
        <p:nvSpPr>
          <p:cNvPr id="20" name="TextBox 19"/>
          <p:cNvSpPr txBox="1"/>
          <p:nvPr/>
        </p:nvSpPr>
        <p:spPr>
          <a:xfrm>
            <a:off x="6766560" y="5029200"/>
            <a:ext cx="4572000" cy="320040"/>
          </a:xfrm>
          <a:prstGeom prst="rect">
            <a:avLst/>
          </a:prstGeom>
          <a:noFill/>
        </p:spPr>
        <p:txBody>
          <a:bodyPr wrap="square">
            <a:spAutoFit/>
          </a:bodyPr>
          <a:lstStyle/>
          <a:p>
            <a:pPr algn="l">
              <a:defRPr sz="1000" b="0">
                <a:solidFill>
                  <a:srgbClr val="CBD5E1"/>
                </a:solidFill>
                <a:latin typeface="Calibri"/>
              </a:defRPr>
            </a:pPr>
            <a:r>
              <a:t>  Custom Attack Scenarios</a:t>
            </a:r>
          </a:p>
        </p:txBody>
      </p:sp>
      <p:sp>
        <p:nvSpPr>
          <p:cNvPr id="21" name="Rounded Rectangle 20"/>
          <p:cNvSpPr/>
          <p:nvPr/>
        </p:nvSpPr>
        <p:spPr>
          <a:xfrm>
            <a:off x="365760" y="6400800"/>
            <a:ext cx="11430000" cy="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2743200" cy="274320"/>
          </a:xfrm>
          <a:prstGeom prst="rect">
            <a:avLst/>
          </a:prstGeom>
          <a:noFill/>
        </p:spPr>
        <p:txBody>
          <a:bodyPr wrap="square">
            <a:spAutoFit/>
          </a:bodyPr>
          <a:lstStyle/>
          <a:p>
            <a:pPr algn="l">
              <a:defRPr sz="900" b="1">
                <a:solidFill>
                  <a:srgbClr val="60A5FA"/>
                </a:solidFill>
                <a:latin typeface="Calibri"/>
              </a:defRPr>
            </a:pPr>
            <a:r>
              <a:t>DEEP DIVE</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1F5F9"/>
                </a:solidFill>
                <a:latin typeface="Calibri"/>
              </a:defRPr>
            </a:pPr>
            <a:r>
              <a:t>Justifying Each Collection Method</a:t>
            </a:r>
          </a:p>
        </p:txBody>
      </p:sp>
      <p:sp>
        <p:nvSpPr>
          <p:cNvPr id="6" name="TextBox 5"/>
          <p:cNvSpPr txBox="1"/>
          <p:nvPr/>
        </p:nvSpPr>
        <p:spPr>
          <a:xfrm>
            <a:off x="548640" y="1371600"/>
            <a:ext cx="9144000" cy="365760"/>
          </a:xfrm>
          <a:prstGeom prst="rect">
            <a:avLst/>
          </a:prstGeom>
          <a:noFill/>
        </p:spPr>
        <p:txBody>
          <a:bodyPr wrap="square">
            <a:spAutoFit/>
          </a:bodyPr>
          <a:lstStyle/>
          <a:p>
            <a:pPr algn="l">
              <a:defRPr sz="1100" b="0">
                <a:solidFill>
                  <a:srgbClr val="94A3B8"/>
                </a:solidFill>
                <a:latin typeface="Calibri"/>
              </a:defRPr>
            </a:pPr>
            <a:r>
              <a:t>Each method addresses a different gap. Together, they produce a complete picture.</a:t>
            </a:r>
          </a:p>
        </p:txBody>
      </p:sp>
      <p:sp>
        <p:nvSpPr>
          <p:cNvPr id="7" name="Rounded Rectangle 6"/>
          <p:cNvSpPr/>
          <p:nvPr/>
        </p:nvSpPr>
        <p:spPr>
          <a:xfrm>
            <a:off x="365760" y="1920240"/>
            <a:ext cx="5669280" cy="420624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5029200" cy="365760"/>
          </a:xfrm>
          <a:prstGeom prst="rect">
            <a:avLst/>
          </a:prstGeom>
          <a:noFill/>
        </p:spPr>
        <p:txBody>
          <a:bodyPr wrap="square">
            <a:spAutoFit/>
          </a:bodyPr>
          <a:lstStyle/>
          <a:p>
            <a:pPr algn="l">
              <a:defRPr sz="1300" b="1">
                <a:solidFill>
                  <a:srgbClr val="60A5FA"/>
                </a:solidFill>
                <a:latin typeface="Calibri"/>
              </a:defRPr>
            </a:pPr>
            <a:r>
              <a:t>Secondary Data - Why It Works</a:t>
            </a:r>
          </a:p>
        </p:txBody>
      </p:sp>
      <p:sp>
        <p:nvSpPr>
          <p:cNvPr id="9" name="TextBox 8"/>
          <p:cNvSpPr txBox="1"/>
          <p:nvPr/>
        </p:nvSpPr>
        <p:spPr>
          <a:xfrm>
            <a:off x="822960" y="2651760"/>
            <a:ext cx="4846320" cy="274320"/>
          </a:xfrm>
          <a:prstGeom prst="rect">
            <a:avLst/>
          </a:prstGeom>
          <a:noFill/>
        </p:spPr>
        <p:txBody>
          <a:bodyPr wrap="square">
            <a:spAutoFit/>
          </a:bodyPr>
          <a:lstStyle/>
          <a:p>
            <a:pPr algn="l">
              <a:defRPr sz="1000" b="1">
                <a:solidFill>
                  <a:srgbClr val="F1F5F9"/>
                </a:solidFill>
                <a:latin typeface="Calibri"/>
              </a:defRPr>
            </a:pPr>
            <a:r>
              <a:t>  Widely validated</a:t>
            </a:r>
          </a:p>
        </p:txBody>
      </p:sp>
      <p:sp>
        <p:nvSpPr>
          <p:cNvPr id="10" name="TextBox 9"/>
          <p:cNvSpPr txBox="1"/>
          <p:nvPr/>
        </p:nvSpPr>
        <p:spPr>
          <a:xfrm>
            <a:off x="822960" y="2880360"/>
            <a:ext cx="4846320" cy="274320"/>
          </a:xfrm>
          <a:prstGeom prst="rect">
            <a:avLst/>
          </a:prstGeom>
          <a:noFill/>
        </p:spPr>
        <p:txBody>
          <a:bodyPr wrap="square">
            <a:spAutoFit/>
          </a:bodyPr>
          <a:lstStyle/>
          <a:p>
            <a:pPr algn="l">
              <a:defRPr sz="900" b="0">
                <a:solidFill>
                  <a:srgbClr val="94A3B8"/>
                </a:solidFill>
                <a:latin typeface="Calibri"/>
              </a:defRPr>
            </a:pPr>
            <a:r>
              <a:t>    used by hundreds of studies, enabling direct comparison</a:t>
            </a:r>
          </a:p>
        </p:txBody>
      </p:sp>
      <p:sp>
        <p:nvSpPr>
          <p:cNvPr id="11" name="TextBox 10"/>
          <p:cNvSpPr txBox="1"/>
          <p:nvPr/>
        </p:nvSpPr>
        <p:spPr>
          <a:xfrm>
            <a:off x="822960" y="3246120"/>
            <a:ext cx="4846320" cy="274320"/>
          </a:xfrm>
          <a:prstGeom prst="rect">
            <a:avLst/>
          </a:prstGeom>
          <a:noFill/>
        </p:spPr>
        <p:txBody>
          <a:bodyPr wrap="square">
            <a:spAutoFit/>
          </a:bodyPr>
          <a:lstStyle/>
          <a:p>
            <a:pPr algn="l">
              <a:defRPr sz="1000" b="1">
                <a:solidFill>
                  <a:srgbClr val="F1F5F9"/>
                </a:solidFill>
                <a:latin typeface="Calibri"/>
              </a:defRPr>
            </a:pPr>
            <a:r>
              <a:t>  Pre-labelled</a:t>
            </a:r>
          </a:p>
        </p:txBody>
      </p:sp>
      <p:sp>
        <p:nvSpPr>
          <p:cNvPr id="12" name="TextBox 11"/>
          <p:cNvSpPr txBox="1"/>
          <p:nvPr/>
        </p:nvSpPr>
        <p:spPr>
          <a:xfrm>
            <a:off x="822960" y="3474720"/>
            <a:ext cx="4846320" cy="274320"/>
          </a:xfrm>
          <a:prstGeom prst="rect">
            <a:avLst/>
          </a:prstGeom>
          <a:noFill/>
        </p:spPr>
        <p:txBody>
          <a:bodyPr wrap="square">
            <a:spAutoFit/>
          </a:bodyPr>
          <a:lstStyle/>
          <a:p>
            <a:pPr algn="l">
              <a:defRPr sz="900" b="0">
                <a:solidFill>
                  <a:srgbClr val="94A3B8"/>
                </a:solidFill>
                <a:latin typeface="Calibri"/>
              </a:defRPr>
            </a:pPr>
            <a:r>
              <a:t>    attack types already annotated, reducing manual effort and bias</a:t>
            </a:r>
          </a:p>
        </p:txBody>
      </p:sp>
      <p:sp>
        <p:nvSpPr>
          <p:cNvPr id="13" name="TextBox 12"/>
          <p:cNvSpPr txBox="1"/>
          <p:nvPr/>
        </p:nvSpPr>
        <p:spPr>
          <a:xfrm>
            <a:off x="822960" y="3840480"/>
            <a:ext cx="4846320" cy="274320"/>
          </a:xfrm>
          <a:prstGeom prst="rect">
            <a:avLst/>
          </a:prstGeom>
          <a:noFill/>
        </p:spPr>
        <p:txBody>
          <a:bodyPr wrap="square">
            <a:spAutoFit/>
          </a:bodyPr>
          <a:lstStyle/>
          <a:p>
            <a:pPr algn="l">
              <a:defRPr sz="1000" b="1">
                <a:solidFill>
                  <a:srgbClr val="F1F5F9"/>
                </a:solidFill>
                <a:latin typeface="Calibri"/>
              </a:defRPr>
            </a:pPr>
            <a:r>
              <a:t>  Large scale</a:t>
            </a:r>
          </a:p>
        </p:txBody>
      </p:sp>
      <p:sp>
        <p:nvSpPr>
          <p:cNvPr id="14" name="TextBox 13"/>
          <p:cNvSpPr txBox="1"/>
          <p:nvPr/>
        </p:nvSpPr>
        <p:spPr>
          <a:xfrm>
            <a:off x="822960" y="4069080"/>
            <a:ext cx="4846320" cy="274320"/>
          </a:xfrm>
          <a:prstGeom prst="rect">
            <a:avLst/>
          </a:prstGeom>
          <a:noFill/>
        </p:spPr>
        <p:txBody>
          <a:bodyPr wrap="square">
            <a:spAutoFit/>
          </a:bodyPr>
          <a:lstStyle/>
          <a:p>
            <a:pPr algn="l">
              <a:defRPr sz="900" b="0">
                <a:solidFill>
                  <a:srgbClr val="94A3B8"/>
                </a:solidFill>
                <a:latin typeface="Calibri"/>
              </a:defRPr>
            </a:pPr>
            <a:r>
              <a:t>    millions of network flows for deep learning training</a:t>
            </a:r>
          </a:p>
        </p:txBody>
      </p:sp>
      <p:sp>
        <p:nvSpPr>
          <p:cNvPr id="15" name="TextBox 14"/>
          <p:cNvSpPr txBox="1"/>
          <p:nvPr/>
        </p:nvSpPr>
        <p:spPr>
          <a:xfrm>
            <a:off x="822960" y="4434840"/>
            <a:ext cx="4846320" cy="274320"/>
          </a:xfrm>
          <a:prstGeom prst="rect">
            <a:avLst/>
          </a:prstGeom>
          <a:noFill/>
        </p:spPr>
        <p:txBody>
          <a:bodyPr wrap="square">
            <a:spAutoFit/>
          </a:bodyPr>
          <a:lstStyle/>
          <a:p>
            <a:pPr algn="l">
              <a:defRPr sz="1000" b="1">
                <a:solidFill>
                  <a:srgbClr val="F1F5F9"/>
                </a:solidFill>
                <a:latin typeface="Calibri"/>
              </a:defRPr>
            </a:pPr>
            <a:r>
              <a:t>  Reproducible</a:t>
            </a:r>
          </a:p>
        </p:txBody>
      </p:sp>
      <p:sp>
        <p:nvSpPr>
          <p:cNvPr id="16" name="TextBox 15"/>
          <p:cNvSpPr txBox="1"/>
          <p:nvPr/>
        </p:nvSpPr>
        <p:spPr>
          <a:xfrm>
            <a:off x="822960" y="4663440"/>
            <a:ext cx="4846320" cy="274320"/>
          </a:xfrm>
          <a:prstGeom prst="rect">
            <a:avLst/>
          </a:prstGeom>
          <a:noFill/>
        </p:spPr>
        <p:txBody>
          <a:bodyPr wrap="square">
            <a:spAutoFit/>
          </a:bodyPr>
          <a:lstStyle/>
          <a:p>
            <a:pPr algn="l">
              <a:defRPr sz="900" b="0">
                <a:solidFill>
                  <a:srgbClr val="94A3B8"/>
                </a:solidFill>
                <a:latin typeface="Calibri"/>
              </a:defRPr>
            </a:pPr>
            <a:r>
              <a:t>    other researchers can replicate experiments using same data</a:t>
            </a:r>
          </a:p>
        </p:txBody>
      </p:sp>
      <p:sp>
        <p:nvSpPr>
          <p:cNvPr id="17" name="Rounded Rectangle 16"/>
          <p:cNvSpPr/>
          <p:nvPr/>
        </p:nvSpPr>
        <p:spPr>
          <a:xfrm>
            <a:off x="457200" y="5120640"/>
            <a:ext cx="5394960" cy="822960"/>
          </a:xfrm>
          <a:prstGeom prst="roundRect">
            <a:avLst/>
          </a:prstGeom>
          <a:solidFill>
            <a:srgbClr val="0A1A2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212080"/>
            <a:ext cx="5029200" cy="640080"/>
          </a:xfrm>
          <a:prstGeom prst="rect">
            <a:avLst/>
          </a:prstGeom>
          <a:noFill/>
        </p:spPr>
        <p:txBody>
          <a:bodyPr wrap="square">
            <a:spAutoFit/>
          </a:bodyPr>
          <a:lstStyle/>
          <a:p>
            <a:pPr algn="l">
              <a:defRPr sz="900" b="0">
                <a:solidFill>
                  <a:srgbClr val="CBD5E1"/>
                </a:solidFill>
                <a:latin typeface="Calibri"/>
              </a:defRPr>
            </a:pPr>
            <a:r>
              <a:t>These datasets serve as our training foundation and allow benchmarking against state-of-the-art using same evaluation conditions.</a:t>
            </a:r>
          </a:p>
        </p:txBody>
      </p:sp>
      <p:sp>
        <p:nvSpPr>
          <p:cNvPr id="19" name="Rounded Rectangle 18"/>
          <p:cNvSpPr/>
          <p:nvPr/>
        </p:nvSpPr>
        <p:spPr>
          <a:xfrm>
            <a:off x="6309360" y="1920240"/>
            <a:ext cx="5303520" cy="4206240"/>
          </a:xfrm>
          <a:prstGeom prst="roundRect">
            <a:avLst/>
          </a:prstGeom>
          <a:solidFill>
            <a:srgbClr val="1E293B"/>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103120"/>
            <a:ext cx="4754880" cy="365760"/>
          </a:xfrm>
          <a:prstGeom prst="rect">
            <a:avLst/>
          </a:prstGeom>
          <a:noFill/>
        </p:spPr>
        <p:txBody>
          <a:bodyPr wrap="square">
            <a:spAutoFit/>
          </a:bodyPr>
          <a:lstStyle/>
          <a:p>
            <a:pPr algn="l">
              <a:defRPr sz="1300" b="1">
                <a:solidFill>
                  <a:srgbClr val="22D3EE"/>
                </a:solidFill>
                <a:latin typeface="Calibri"/>
              </a:defRPr>
            </a:pPr>
            <a:r>
              <a:t>Controlled Experiment - Why It Works</a:t>
            </a:r>
          </a:p>
        </p:txBody>
      </p:sp>
      <p:sp>
        <p:nvSpPr>
          <p:cNvPr id="21" name="TextBox 20"/>
          <p:cNvSpPr txBox="1"/>
          <p:nvPr/>
        </p:nvSpPr>
        <p:spPr>
          <a:xfrm>
            <a:off x="6766560" y="2651760"/>
            <a:ext cx="4572000" cy="274320"/>
          </a:xfrm>
          <a:prstGeom prst="rect">
            <a:avLst/>
          </a:prstGeom>
          <a:noFill/>
        </p:spPr>
        <p:txBody>
          <a:bodyPr wrap="square">
            <a:spAutoFit/>
          </a:bodyPr>
          <a:lstStyle/>
          <a:p>
            <a:pPr algn="l">
              <a:defRPr sz="1000" b="1">
                <a:solidFill>
                  <a:srgbClr val="F1F5F9"/>
                </a:solidFill>
                <a:latin typeface="Calibri"/>
              </a:defRPr>
            </a:pPr>
            <a:r>
              <a:t>  Cloud-native</a:t>
            </a:r>
          </a:p>
        </p:txBody>
      </p:sp>
      <p:sp>
        <p:nvSpPr>
          <p:cNvPr id="22" name="TextBox 21"/>
          <p:cNvSpPr txBox="1"/>
          <p:nvPr/>
        </p:nvSpPr>
        <p:spPr>
          <a:xfrm>
            <a:off x="6766560" y="2880360"/>
            <a:ext cx="4572000" cy="274320"/>
          </a:xfrm>
          <a:prstGeom prst="rect">
            <a:avLst/>
          </a:prstGeom>
          <a:noFill/>
        </p:spPr>
        <p:txBody>
          <a:bodyPr wrap="square">
            <a:spAutoFit/>
          </a:bodyPr>
          <a:lstStyle/>
          <a:p>
            <a:pPr algn="l">
              <a:defRPr sz="900" b="0">
                <a:solidFill>
                  <a:srgbClr val="94A3B8"/>
                </a:solidFill>
                <a:latin typeface="Calibri"/>
              </a:defRPr>
            </a:pPr>
            <a:r>
              <a:t>    captures API abuse, container escape, lateral movement</a:t>
            </a:r>
          </a:p>
        </p:txBody>
      </p:sp>
      <p:sp>
        <p:nvSpPr>
          <p:cNvPr id="23" name="TextBox 22"/>
          <p:cNvSpPr txBox="1"/>
          <p:nvPr/>
        </p:nvSpPr>
        <p:spPr>
          <a:xfrm>
            <a:off x="6766560" y="3246120"/>
            <a:ext cx="4572000" cy="274320"/>
          </a:xfrm>
          <a:prstGeom prst="rect">
            <a:avLst/>
          </a:prstGeom>
          <a:noFill/>
        </p:spPr>
        <p:txBody>
          <a:bodyPr wrap="square">
            <a:spAutoFit/>
          </a:bodyPr>
          <a:lstStyle/>
          <a:p>
            <a:pPr algn="l">
              <a:defRPr sz="1000" b="1">
                <a:solidFill>
                  <a:srgbClr val="F1F5F9"/>
                </a:solidFill>
                <a:latin typeface="Calibri"/>
              </a:defRPr>
            </a:pPr>
            <a:r>
              <a:t>  Current threats</a:t>
            </a:r>
          </a:p>
        </p:txBody>
      </p:sp>
      <p:sp>
        <p:nvSpPr>
          <p:cNvPr id="24" name="TextBox 23"/>
          <p:cNvSpPr txBox="1"/>
          <p:nvPr/>
        </p:nvSpPr>
        <p:spPr>
          <a:xfrm>
            <a:off x="6766560" y="3474720"/>
            <a:ext cx="4572000" cy="274320"/>
          </a:xfrm>
          <a:prstGeom prst="rect">
            <a:avLst/>
          </a:prstGeom>
          <a:noFill/>
        </p:spPr>
        <p:txBody>
          <a:bodyPr wrap="square">
            <a:spAutoFit/>
          </a:bodyPr>
          <a:lstStyle/>
          <a:p>
            <a:pPr algn="l">
              <a:defRPr sz="900" b="0">
                <a:solidFill>
                  <a:srgbClr val="94A3B8"/>
                </a:solidFill>
                <a:latin typeface="Calibri"/>
              </a:defRPr>
            </a:pPr>
            <a:r>
              <a:t>    simulates 2024-2025 APT tactics older datasets miss</a:t>
            </a:r>
          </a:p>
        </p:txBody>
      </p:sp>
      <p:sp>
        <p:nvSpPr>
          <p:cNvPr id="25" name="TextBox 24"/>
          <p:cNvSpPr txBox="1"/>
          <p:nvPr/>
        </p:nvSpPr>
        <p:spPr>
          <a:xfrm>
            <a:off x="6766560" y="3840480"/>
            <a:ext cx="4572000" cy="274320"/>
          </a:xfrm>
          <a:prstGeom prst="rect">
            <a:avLst/>
          </a:prstGeom>
          <a:noFill/>
        </p:spPr>
        <p:txBody>
          <a:bodyPr wrap="square">
            <a:spAutoFit/>
          </a:bodyPr>
          <a:lstStyle/>
          <a:p>
            <a:pPr algn="l">
              <a:defRPr sz="1000" b="1">
                <a:solidFill>
                  <a:srgbClr val="F1F5F9"/>
                </a:solidFill>
                <a:latin typeface="Calibri"/>
              </a:defRPr>
            </a:pPr>
            <a:r>
              <a:t>  Controlled variables</a:t>
            </a:r>
          </a:p>
        </p:txBody>
      </p:sp>
      <p:sp>
        <p:nvSpPr>
          <p:cNvPr id="26" name="TextBox 25"/>
          <p:cNvSpPr txBox="1"/>
          <p:nvPr/>
        </p:nvSpPr>
        <p:spPr>
          <a:xfrm>
            <a:off x="6766560" y="4069080"/>
            <a:ext cx="4572000" cy="274320"/>
          </a:xfrm>
          <a:prstGeom prst="rect">
            <a:avLst/>
          </a:prstGeom>
          <a:noFill/>
        </p:spPr>
        <p:txBody>
          <a:bodyPr wrap="square">
            <a:spAutoFit/>
          </a:bodyPr>
          <a:lstStyle/>
          <a:p>
            <a:pPr algn="l">
              <a:defRPr sz="900" b="0">
                <a:solidFill>
                  <a:srgbClr val="94A3B8"/>
                </a:solidFill>
                <a:latin typeface="Calibri"/>
              </a:defRPr>
            </a:pPr>
            <a:r>
              <a:t>    we decide exactly which attacks, when, and intensity</a:t>
            </a:r>
          </a:p>
        </p:txBody>
      </p:sp>
      <p:sp>
        <p:nvSpPr>
          <p:cNvPr id="27" name="TextBox 26"/>
          <p:cNvSpPr txBox="1"/>
          <p:nvPr/>
        </p:nvSpPr>
        <p:spPr>
          <a:xfrm>
            <a:off x="6766560" y="4434840"/>
            <a:ext cx="4572000" cy="274320"/>
          </a:xfrm>
          <a:prstGeom prst="rect">
            <a:avLst/>
          </a:prstGeom>
          <a:noFill/>
        </p:spPr>
        <p:txBody>
          <a:bodyPr wrap="square">
            <a:spAutoFit/>
          </a:bodyPr>
          <a:lstStyle/>
          <a:p>
            <a:pPr algn="l">
              <a:defRPr sz="1000" b="1">
                <a:solidFill>
                  <a:srgbClr val="F1F5F9"/>
                </a:solidFill>
                <a:latin typeface="Calibri"/>
              </a:defRPr>
            </a:pPr>
            <a:r>
              <a:t>  Fills research gap</a:t>
            </a:r>
          </a:p>
        </p:txBody>
      </p:sp>
      <p:sp>
        <p:nvSpPr>
          <p:cNvPr id="28" name="TextBox 27"/>
          <p:cNvSpPr txBox="1"/>
          <p:nvPr/>
        </p:nvSpPr>
        <p:spPr>
          <a:xfrm>
            <a:off x="6766560" y="4663440"/>
            <a:ext cx="4572000" cy="274320"/>
          </a:xfrm>
          <a:prstGeom prst="rect">
            <a:avLst/>
          </a:prstGeom>
          <a:noFill/>
        </p:spPr>
        <p:txBody>
          <a:bodyPr wrap="square">
            <a:spAutoFit/>
          </a:bodyPr>
          <a:lstStyle/>
          <a:p>
            <a:pPr algn="l">
              <a:defRPr sz="900" b="0">
                <a:solidFill>
                  <a:srgbClr val="94A3B8"/>
                </a:solidFill>
                <a:latin typeface="Calibri"/>
              </a:defRPr>
            </a:pPr>
            <a:r>
              <a:t>    addresses documented lack of cloud-specific APT data</a:t>
            </a:r>
          </a:p>
        </p:txBody>
      </p:sp>
      <p:sp>
        <p:nvSpPr>
          <p:cNvPr id="29" name="Rounded Rectangle 28"/>
          <p:cNvSpPr/>
          <p:nvPr/>
        </p:nvSpPr>
        <p:spPr>
          <a:xfrm>
            <a:off x="6400800" y="5120640"/>
            <a:ext cx="5029200" cy="822960"/>
          </a:xfrm>
          <a:prstGeom prst="roundRect">
            <a:avLst/>
          </a:prstGeom>
          <a:solidFill>
            <a:srgbClr val="0A1F20"/>
          </a:solidFill>
          <a:ln w="12700">
            <a:solidFill>
              <a:srgbClr val="0891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5212080"/>
            <a:ext cx="4663440" cy="640080"/>
          </a:xfrm>
          <a:prstGeom prst="rect">
            <a:avLst/>
          </a:prstGeom>
          <a:noFill/>
        </p:spPr>
        <p:txBody>
          <a:bodyPr wrap="square">
            <a:spAutoFit/>
          </a:bodyPr>
          <a:lstStyle/>
          <a:p>
            <a:pPr algn="l">
              <a:defRPr sz="900" b="0">
                <a:solidFill>
                  <a:srgbClr val="CBD5E1"/>
                </a:solidFill>
                <a:latin typeface="Calibri"/>
              </a:defRPr>
            </a:pPr>
            <a:r>
              <a:t>Simulated environment validates our model works on fresh, realistic cloud attack scenarios representing current threats.</a:t>
            </a:r>
          </a:p>
        </p:txBody>
      </p:sp>
      <p:sp>
        <p:nvSpPr>
          <p:cNvPr id="31" name="TextBox 30"/>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Oval 1"/>
          <p:cNvSpPr/>
          <p:nvPr/>
        </p:nvSpPr>
        <p:spPr>
          <a:xfrm>
            <a:off x="9601200" y="-731520"/>
            <a:ext cx="2743200" cy="2743200"/>
          </a:xfrm>
          <a:prstGeom prst="ellipse">
            <a:avLst/>
          </a:prstGeom>
          <a:solidFill>
            <a:srgbClr val="2563E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2011680" cy="2011680"/>
          </a:xfrm>
          <a:prstGeom prst="ellipse">
            <a:avLst/>
          </a:prstGeom>
          <a:solidFill>
            <a:srgbClr val="0891B2">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3657600" cy="274320"/>
          </a:xfrm>
          <a:prstGeom prst="rect">
            <a:avLst/>
          </a:prstGeom>
          <a:noFill/>
        </p:spPr>
        <p:txBody>
          <a:bodyPr wrap="square">
            <a:spAutoFit/>
          </a:bodyPr>
          <a:lstStyle/>
          <a:p>
            <a:pPr algn="l">
              <a:defRPr sz="900" b="1">
                <a:solidFill>
                  <a:srgbClr val="34D399"/>
                </a:solidFill>
                <a:latin typeface="Calibri"/>
              </a:defRPr>
            </a:pPr>
            <a:r>
              <a:t>PUTTING IT ALL TOGETHER</a:t>
            </a:r>
          </a:p>
        </p:txBody>
      </p:sp>
      <p:sp>
        <p:nvSpPr>
          <p:cNvPr id="5" name="TextBox 4"/>
          <p:cNvSpPr txBox="1"/>
          <p:nvPr/>
        </p:nvSpPr>
        <p:spPr>
          <a:xfrm>
            <a:off x="548640" y="731520"/>
            <a:ext cx="9144000" cy="548640"/>
          </a:xfrm>
          <a:prstGeom prst="rect">
            <a:avLst/>
          </a:prstGeom>
          <a:noFill/>
        </p:spPr>
        <p:txBody>
          <a:bodyPr wrap="square">
            <a:spAutoFit/>
          </a:bodyPr>
          <a:lstStyle/>
          <a:p>
            <a:pPr algn="l">
              <a:defRPr sz="2600" b="1">
                <a:solidFill>
                  <a:srgbClr val="F1F5F9"/>
                </a:solidFill>
                <a:latin typeface="Calibri"/>
              </a:defRPr>
            </a:pPr>
            <a:r>
              <a:t>Complete Research Design Summary</a:t>
            </a:r>
          </a:p>
        </p:txBody>
      </p:sp>
      <p:sp>
        <p:nvSpPr>
          <p:cNvPr id="6" name="TextBox 5"/>
          <p:cNvSpPr txBox="1"/>
          <p:nvPr/>
        </p:nvSpPr>
        <p:spPr>
          <a:xfrm>
            <a:off x="548640" y="1371600"/>
            <a:ext cx="9144000" cy="365760"/>
          </a:xfrm>
          <a:prstGeom prst="rect">
            <a:avLst/>
          </a:prstGeom>
          <a:noFill/>
        </p:spPr>
        <p:txBody>
          <a:bodyPr wrap="square">
            <a:spAutoFit/>
          </a:bodyPr>
          <a:lstStyle/>
          <a:p>
            <a:pPr algn="l">
              <a:defRPr sz="1100" b="0">
                <a:solidFill>
                  <a:srgbClr val="94A3B8"/>
                </a:solidFill>
                <a:latin typeface="Calibri"/>
              </a:defRPr>
            </a:pPr>
            <a:r>
              <a:t>A coherent design where methodology and data collection work together to answer our questions.</a:t>
            </a:r>
          </a:p>
        </p:txBody>
      </p:sp>
      <p:sp>
        <p:nvSpPr>
          <p:cNvPr id="7" name="Rounded Rectangle 6"/>
          <p:cNvSpPr/>
          <p:nvPr/>
        </p:nvSpPr>
        <p:spPr>
          <a:xfrm>
            <a:off x="365760" y="1920240"/>
            <a:ext cx="5669280" cy="320040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5029200" cy="365760"/>
          </a:xfrm>
          <a:prstGeom prst="rect">
            <a:avLst/>
          </a:prstGeom>
          <a:noFill/>
        </p:spPr>
        <p:txBody>
          <a:bodyPr wrap="square">
            <a:spAutoFit/>
          </a:bodyPr>
          <a:lstStyle/>
          <a:p>
            <a:pPr algn="l">
              <a:defRPr sz="1300" b="1">
                <a:solidFill>
                  <a:srgbClr val="60A5FA"/>
                </a:solidFill>
                <a:latin typeface="Calibri"/>
              </a:defRPr>
            </a:pPr>
            <a:r>
              <a:t>Design at a Glance</a:t>
            </a:r>
          </a:p>
        </p:txBody>
      </p:sp>
      <p:sp>
        <p:nvSpPr>
          <p:cNvPr id="9" name="Rounded Rectangle 8"/>
          <p:cNvSpPr/>
          <p:nvPr/>
        </p:nvSpPr>
        <p:spPr>
          <a:xfrm>
            <a:off x="457200" y="2606040"/>
            <a:ext cx="5394960" cy="411480"/>
          </a:xfrm>
          <a:prstGeom prst="roundRect">
            <a:avLst/>
          </a:prstGeom>
          <a:solidFill>
            <a:srgbClr val="151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51760"/>
            <a:ext cx="2560320" cy="320040"/>
          </a:xfrm>
          <a:prstGeom prst="rect">
            <a:avLst/>
          </a:prstGeom>
          <a:noFill/>
        </p:spPr>
        <p:txBody>
          <a:bodyPr wrap="square">
            <a:spAutoFit/>
          </a:bodyPr>
          <a:lstStyle/>
          <a:p>
            <a:pPr algn="l">
              <a:defRPr sz="1000" b="1">
                <a:solidFill>
                  <a:srgbClr val="F1F5F9"/>
                </a:solidFill>
                <a:latin typeface="Calibri"/>
              </a:defRPr>
            </a:pPr>
            <a:r>
              <a:t>Research Methodology</a:t>
            </a:r>
          </a:p>
        </p:txBody>
      </p:sp>
      <p:sp>
        <p:nvSpPr>
          <p:cNvPr id="11" name="TextBox 10"/>
          <p:cNvSpPr txBox="1"/>
          <p:nvPr/>
        </p:nvSpPr>
        <p:spPr>
          <a:xfrm>
            <a:off x="3200400" y="2651760"/>
            <a:ext cx="2560320" cy="320040"/>
          </a:xfrm>
          <a:prstGeom prst="rect">
            <a:avLst/>
          </a:prstGeom>
          <a:noFill/>
        </p:spPr>
        <p:txBody>
          <a:bodyPr wrap="square">
            <a:spAutoFit/>
          </a:bodyPr>
          <a:lstStyle/>
          <a:p>
            <a:pPr algn="l">
              <a:defRPr sz="1000" b="0">
                <a:solidFill>
                  <a:srgbClr val="22D3EE"/>
                </a:solidFill>
                <a:latin typeface="Calibri"/>
              </a:defRPr>
            </a:pPr>
            <a:r>
              <a:t>Quantitative</a:t>
            </a:r>
          </a:p>
        </p:txBody>
      </p:sp>
      <p:sp>
        <p:nvSpPr>
          <p:cNvPr id="12" name="Rounded Rectangle 11"/>
          <p:cNvSpPr/>
          <p:nvPr/>
        </p:nvSpPr>
        <p:spPr>
          <a:xfrm>
            <a:off x="457200" y="3063240"/>
            <a:ext cx="5394960" cy="411480"/>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08960"/>
            <a:ext cx="2560320" cy="320040"/>
          </a:xfrm>
          <a:prstGeom prst="rect">
            <a:avLst/>
          </a:prstGeom>
          <a:noFill/>
        </p:spPr>
        <p:txBody>
          <a:bodyPr wrap="square">
            <a:spAutoFit/>
          </a:bodyPr>
          <a:lstStyle/>
          <a:p>
            <a:pPr algn="l">
              <a:defRPr sz="1000" b="1">
                <a:solidFill>
                  <a:srgbClr val="F1F5F9"/>
                </a:solidFill>
                <a:latin typeface="Calibri"/>
              </a:defRPr>
            </a:pPr>
            <a:r>
              <a:t>Data Method 1</a:t>
            </a:r>
          </a:p>
        </p:txBody>
      </p:sp>
      <p:sp>
        <p:nvSpPr>
          <p:cNvPr id="14" name="TextBox 13"/>
          <p:cNvSpPr txBox="1"/>
          <p:nvPr/>
        </p:nvSpPr>
        <p:spPr>
          <a:xfrm>
            <a:off x="3200400" y="3108960"/>
            <a:ext cx="2560320" cy="320040"/>
          </a:xfrm>
          <a:prstGeom prst="rect">
            <a:avLst/>
          </a:prstGeom>
          <a:noFill/>
        </p:spPr>
        <p:txBody>
          <a:bodyPr wrap="square">
            <a:spAutoFit/>
          </a:bodyPr>
          <a:lstStyle/>
          <a:p>
            <a:pPr algn="l">
              <a:defRPr sz="1000" b="0">
                <a:solidFill>
                  <a:srgbClr val="22D3EE"/>
                </a:solidFill>
                <a:latin typeface="Calibri"/>
              </a:defRPr>
            </a:pPr>
            <a:r>
              <a:t>Secondary Data (Benchmarks)</a:t>
            </a:r>
          </a:p>
        </p:txBody>
      </p:sp>
      <p:sp>
        <p:nvSpPr>
          <p:cNvPr id="15" name="Rounded Rectangle 14"/>
          <p:cNvSpPr/>
          <p:nvPr/>
        </p:nvSpPr>
        <p:spPr>
          <a:xfrm>
            <a:off x="457200" y="3520440"/>
            <a:ext cx="5394960" cy="411480"/>
          </a:xfrm>
          <a:prstGeom prst="roundRect">
            <a:avLst/>
          </a:prstGeom>
          <a:solidFill>
            <a:srgbClr val="151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66160"/>
            <a:ext cx="2560320" cy="320040"/>
          </a:xfrm>
          <a:prstGeom prst="rect">
            <a:avLst/>
          </a:prstGeom>
          <a:noFill/>
        </p:spPr>
        <p:txBody>
          <a:bodyPr wrap="square">
            <a:spAutoFit/>
          </a:bodyPr>
          <a:lstStyle/>
          <a:p>
            <a:pPr algn="l">
              <a:defRPr sz="1000" b="1">
                <a:solidFill>
                  <a:srgbClr val="F1F5F9"/>
                </a:solidFill>
                <a:latin typeface="Calibri"/>
              </a:defRPr>
            </a:pPr>
            <a:r>
              <a:t>Data Method 2</a:t>
            </a:r>
          </a:p>
        </p:txBody>
      </p:sp>
      <p:sp>
        <p:nvSpPr>
          <p:cNvPr id="17" name="TextBox 16"/>
          <p:cNvSpPr txBox="1"/>
          <p:nvPr/>
        </p:nvSpPr>
        <p:spPr>
          <a:xfrm>
            <a:off x="3200400" y="3566160"/>
            <a:ext cx="2560320" cy="320040"/>
          </a:xfrm>
          <a:prstGeom prst="rect">
            <a:avLst/>
          </a:prstGeom>
          <a:noFill/>
        </p:spPr>
        <p:txBody>
          <a:bodyPr wrap="square">
            <a:spAutoFit/>
          </a:bodyPr>
          <a:lstStyle/>
          <a:p>
            <a:pPr algn="l">
              <a:defRPr sz="1000" b="0">
                <a:solidFill>
                  <a:srgbClr val="22D3EE"/>
                </a:solidFill>
                <a:latin typeface="Calibri"/>
              </a:defRPr>
            </a:pPr>
            <a:r>
              <a:t>Controlled Experiment (Cloud Sim)</a:t>
            </a:r>
          </a:p>
        </p:txBody>
      </p:sp>
      <p:sp>
        <p:nvSpPr>
          <p:cNvPr id="18" name="Rounded Rectangle 17"/>
          <p:cNvSpPr/>
          <p:nvPr/>
        </p:nvSpPr>
        <p:spPr>
          <a:xfrm>
            <a:off x="457200" y="3977639"/>
            <a:ext cx="5394960" cy="411480"/>
          </a:xfrm>
          <a:prstGeom prst="roundRect">
            <a:avLst/>
          </a:prstGeom>
          <a:solidFill>
            <a:srgbClr val="12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023359"/>
            <a:ext cx="2560320" cy="320040"/>
          </a:xfrm>
          <a:prstGeom prst="rect">
            <a:avLst/>
          </a:prstGeom>
          <a:noFill/>
        </p:spPr>
        <p:txBody>
          <a:bodyPr wrap="square">
            <a:spAutoFit/>
          </a:bodyPr>
          <a:lstStyle/>
          <a:p>
            <a:pPr algn="l">
              <a:defRPr sz="1000" b="1">
                <a:solidFill>
                  <a:srgbClr val="F1F5F9"/>
                </a:solidFill>
                <a:latin typeface="Calibri"/>
              </a:defRPr>
            </a:pPr>
            <a:r>
              <a:t>Analysis Approach</a:t>
            </a:r>
          </a:p>
        </p:txBody>
      </p:sp>
      <p:sp>
        <p:nvSpPr>
          <p:cNvPr id="20" name="TextBox 19"/>
          <p:cNvSpPr txBox="1"/>
          <p:nvPr/>
        </p:nvSpPr>
        <p:spPr>
          <a:xfrm>
            <a:off x="3200400" y="4023359"/>
            <a:ext cx="2560320" cy="320040"/>
          </a:xfrm>
          <a:prstGeom prst="rect">
            <a:avLst/>
          </a:prstGeom>
          <a:noFill/>
        </p:spPr>
        <p:txBody>
          <a:bodyPr wrap="square">
            <a:spAutoFit/>
          </a:bodyPr>
          <a:lstStyle/>
          <a:p>
            <a:pPr algn="l">
              <a:defRPr sz="1000" b="0">
                <a:solidFill>
                  <a:srgbClr val="22D3EE"/>
                </a:solidFill>
                <a:latin typeface="Calibri"/>
              </a:defRPr>
            </a:pPr>
            <a:r>
              <a:t>Statistical + ML Metrics</a:t>
            </a:r>
          </a:p>
        </p:txBody>
      </p:sp>
      <p:sp>
        <p:nvSpPr>
          <p:cNvPr id="21" name="Rounded Rectangle 20"/>
          <p:cNvSpPr/>
          <p:nvPr/>
        </p:nvSpPr>
        <p:spPr>
          <a:xfrm>
            <a:off x="457200" y="4434840"/>
            <a:ext cx="5394960" cy="411480"/>
          </a:xfrm>
          <a:prstGeom prst="roundRect">
            <a:avLst/>
          </a:prstGeom>
          <a:solidFill>
            <a:srgbClr val="151D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480560"/>
            <a:ext cx="2560320" cy="320040"/>
          </a:xfrm>
          <a:prstGeom prst="rect">
            <a:avLst/>
          </a:prstGeom>
          <a:noFill/>
        </p:spPr>
        <p:txBody>
          <a:bodyPr wrap="square">
            <a:spAutoFit/>
          </a:bodyPr>
          <a:lstStyle/>
          <a:p>
            <a:pPr algn="l">
              <a:defRPr sz="1000" b="1">
                <a:solidFill>
                  <a:srgbClr val="F1F5F9"/>
                </a:solidFill>
                <a:latin typeface="Calibri"/>
              </a:defRPr>
            </a:pPr>
            <a:r>
              <a:t>Validation</a:t>
            </a:r>
          </a:p>
        </p:txBody>
      </p:sp>
      <p:sp>
        <p:nvSpPr>
          <p:cNvPr id="23" name="TextBox 22"/>
          <p:cNvSpPr txBox="1"/>
          <p:nvPr/>
        </p:nvSpPr>
        <p:spPr>
          <a:xfrm>
            <a:off x="3200400" y="4480560"/>
            <a:ext cx="2560320" cy="320040"/>
          </a:xfrm>
          <a:prstGeom prst="rect">
            <a:avLst/>
          </a:prstGeom>
          <a:noFill/>
        </p:spPr>
        <p:txBody>
          <a:bodyPr wrap="square">
            <a:spAutoFit/>
          </a:bodyPr>
          <a:lstStyle/>
          <a:p>
            <a:pPr algn="l">
              <a:defRPr sz="1000" b="0">
                <a:solidFill>
                  <a:srgbClr val="22D3EE"/>
                </a:solidFill>
                <a:latin typeface="Calibri"/>
              </a:defRPr>
            </a:pPr>
            <a:r>
              <a:t>Cross-validation + Hypothesis Tests</a:t>
            </a:r>
          </a:p>
        </p:txBody>
      </p:sp>
      <p:sp>
        <p:nvSpPr>
          <p:cNvPr id="24" name="Rounded Rectangle 23"/>
          <p:cNvSpPr/>
          <p:nvPr/>
        </p:nvSpPr>
        <p:spPr>
          <a:xfrm>
            <a:off x="6309360" y="1920240"/>
            <a:ext cx="5303520" cy="3200400"/>
          </a:xfrm>
          <a:prstGeom prst="roundRect">
            <a:avLst/>
          </a:prstGeom>
          <a:solidFill>
            <a:srgbClr val="1E293B"/>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2103120"/>
            <a:ext cx="4754880" cy="365760"/>
          </a:xfrm>
          <a:prstGeom prst="rect">
            <a:avLst/>
          </a:prstGeom>
          <a:noFill/>
        </p:spPr>
        <p:txBody>
          <a:bodyPr wrap="square">
            <a:spAutoFit/>
          </a:bodyPr>
          <a:lstStyle/>
          <a:p>
            <a:pPr algn="l">
              <a:defRPr sz="1300" b="1">
                <a:solidFill>
                  <a:srgbClr val="34D399"/>
                </a:solidFill>
                <a:latin typeface="Calibri"/>
              </a:defRPr>
            </a:pPr>
            <a:r>
              <a:t>Why This Design Works</a:t>
            </a:r>
          </a:p>
        </p:txBody>
      </p:sp>
      <p:sp>
        <p:nvSpPr>
          <p:cNvPr id="26" name="TextBox 25"/>
          <p:cNvSpPr txBox="1"/>
          <p:nvPr/>
        </p:nvSpPr>
        <p:spPr>
          <a:xfrm>
            <a:off x="6766560" y="2651760"/>
            <a:ext cx="4572000" cy="457200"/>
          </a:xfrm>
          <a:prstGeom prst="rect">
            <a:avLst/>
          </a:prstGeom>
          <a:noFill/>
        </p:spPr>
        <p:txBody>
          <a:bodyPr wrap="square">
            <a:spAutoFit/>
          </a:bodyPr>
          <a:lstStyle/>
          <a:p>
            <a:pPr algn="l">
              <a:defRPr sz="1000" b="0">
                <a:solidFill>
                  <a:srgbClr val="94A3B8"/>
                </a:solidFill>
                <a:latin typeface="Calibri"/>
              </a:defRPr>
            </a:pPr>
            <a:r>
              <a:t>  Quantitative methodology matches our numerical, performance-driven questions</a:t>
            </a:r>
          </a:p>
        </p:txBody>
      </p:sp>
      <p:sp>
        <p:nvSpPr>
          <p:cNvPr id="27" name="TextBox 26"/>
          <p:cNvSpPr txBox="1"/>
          <p:nvPr/>
        </p:nvSpPr>
        <p:spPr>
          <a:xfrm>
            <a:off x="6766560" y="3200400"/>
            <a:ext cx="4572000" cy="457200"/>
          </a:xfrm>
          <a:prstGeom prst="rect">
            <a:avLst/>
          </a:prstGeom>
          <a:noFill/>
        </p:spPr>
        <p:txBody>
          <a:bodyPr wrap="square">
            <a:spAutoFit/>
          </a:bodyPr>
          <a:lstStyle/>
          <a:p>
            <a:pPr algn="l">
              <a:defRPr sz="1000" b="0">
                <a:solidFill>
                  <a:srgbClr val="94A3B8"/>
                </a:solidFill>
                <a:latin typeface="Calibri"/>
              </a:defRPr>
            </a:pPr>
            <a:r>
              <a:t>  Benchmark datasets allow fair comparison with existing published methods</a:t>
            </a:r>
          </a:p>
        </p:txBody>
      </p:sp>
      <p:sp>
        <p:nvSpPr>
          <p:cNvPr id="28" name="TextBox 27"/>
          <p:cNvSpPr txBox="1"/>
          <p:nvPr/>
        </p:nvSpPr>
        <p:spPr>
          <a:xfrm>
            <a:off x="6766560" y="3749039"/>
            <a:ext cx="4572000" cy="457200"/>
          </a:xfrm>
          <a:prstGeom prst="rect">
            <a:avLst/>
          </a:prstGeom>
          <a:noFill/>
        </p:spPr>
        <p:txBody>
          <a:bodyPr wrap="square">
            <a:spAutoFit/>
          </a:bodyPr>
          <a:lstStyle/>
          <a:p>
            <a:pPr algn="l">
              <a:defRPr sz="1000" b="0">
                <a:solidFill>
                  <a:srgbClr val="94A3B8"/>
                </a:solidFill>
                <a:latin typeface="Calibri"/>
              </a:defRPr>
            </a:pPr>
            <a:r>
              <a:t>  Simulated environment validates real-world cloud applicability</a:t>
            </a:r>
          </a:p>
        </p:txBody>
      </p:sp>
      <p:sp>
        <p:nvSpPr>
          <p:cNvPr id="29" name="TextBox 28"/>
          <p:cNvSpPr txBox="1"/>
          <p:nvPr/>
        </p:nvSpPr>
        <p:spPr>
          <a:xfrm>
            <a:off x="6766560" y="4297679"/>
            <a:ext cx="4572000" cy="457200"/>
          </a:xfrm>
          <a:prstGeom prst="rect">
            <a:avLst/>
          </a:prstGeom>
          <a:noFill/>
        </p:spPr>
        <p:txBody>
          <a:bodyPr wrap="square">
            <a:spAutoFit/>
          </a:bodyPr>
          <a:lstStyle/>
          <a:p>
            <a:pPr algn="l">
              <a:defRPr sz="1000" b="0">
                <a:solidFill>
                  <a:srgbClr val="94A3B8"/>
                </a:solidFill>
                <a:latin typeface="Calibri"/>
              </a:defRPr>
            </a:pPr>
            <a:r>
              <a:t>  Together, they produce results that are academically rigorous and practical</a:t>
            </a:r>
          </a:p>
        </p:txBody>
      </p:sp>
      <p:sp>
        <p:nvSpPr>
          <p:cNvPr id="30" name="Rounded Rectangle 29"/>
          <p:cNvSpPr/>
          <p:nvPr/>
        </p:nvSpPr>
        <p:spPr>
          <a:xfrm>
            <a:off x="365760" y="5394960"/>
            <a:ext cx="11430000" cy="1097280"/>
          </a:xfrm>
          <a:prstGeom prst="roundRect">
            <a:avLst/>
          </a:prstGeom>
          <a:solidFill>
            <a:srgbClr val="0A1F20"/>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532120"/>
            <a:ext cx="10972800" cy="914400"/>
          </a:xfrm>
          <a:prstGeom prst="rect">
            <a:avLst/>
          </a:prstGeom>
          <a:noFill/>
        </p:spPr>
        <p:txBody>
          <a:bodyPr wrap="square">
            <a:spAutoFit/>
          </a:bodyPr>
          <a:lstStyle/>
          <a:p>
            <a:pPr algn="ctr">
              <a:defRPr sz="1100" b="1">
                <a:solidFill>
                  <a:srgbClr val="F1F5F9"/>
                </a:solidFill>
                <a:latin typeface="Calibri"/>
              </a:defRPr>
            </a:pPr>
            <a:r>
              <a:t>Bottom line: Every piece of our research design connects logically. We ask a quantitative question, collect quantitative data through two complementary channels, and analyse it with statistical tools that give us clear, defensible answers.</a:t>
            </a:r>
          </a:p>
        </p:txBody>
      </p:sp>
      <p:sp>
        <p:nvSpPr>
          <p:cNvPr id="32" name="TextBox 31"/>
          <p:cNvSpPr txBox="1"/>
          <p:nvPr/>
        </p:nvSpPr>
        <p:spPr>
          <a:xfrm>
            <a:off x="10789920" y="6355080"/>
            <a:ext cx="1097280" cy="320040"/>
          </a:xfrm>
          <a:prstGeom prst="rect">
            <a:avLst/>
          </a:prstGeom>
          <a:noFill/>
        </p:spPr>
        <p:txBody>
          <a:bodyPr wrap="square">
            <a:spAutoFit/>
          </a:bodyPr>
          <a:lstStyle/>
          <a:p>
            <a:pPr algn="r">
              <a:defRPr sz="900" b="0">
                <a:solidFill>
                  <a:srgbClr val="94A3B8"/>
                </a:solidFill>
                <a:latin typeface="Calibri"/>
              </a:defRPr>
            </a:pPr>
            <a: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